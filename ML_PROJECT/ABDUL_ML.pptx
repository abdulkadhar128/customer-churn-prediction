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6" r:id="rId19"/>
    <p:sldId id="273" r:id="rId20"/>
    <p:sldId id="274" r:id="rId21"/>
    <p:sldId id="277" r:id="rId22"/>
  </p:sldIdLst>
  <p:sldSz cx="18288000" cy="10287000"/>
  <p:notesSz cx="6858000" cy="9144000"/>
  <p:embeddedFontLst>
    <p:embeddedFont>
      <p:font typeface="Arial Bold" panose="020B0704020202020204" pitchFamily="34" charset="0"/>
      <p:regular r:id="rId23"/>
      <p:bold r:id="rId24"/>
    </p:embeddedFont>
    <p:embeddedFont>
      <p:font typeface="Maragsa" panose="020B0604020202020204" charset="0"/>
      <p:regular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32" d="100"/>
          <a:sy n="32" d="100"/>
        </p:scale>
        <p:origin x="468" y="5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16669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12718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82000"/>
                  </a:schemeClr>
                </a:solidFill>
              </a:defRPr>
            </a:lvl1pPr>
            <a:lvl2pPr marL="685800" indent="0">
              <a:buNone/>
              <a:defRPr sz="3000">
                <a:solidFill>
                  <a:schemeClr val="tx1">
                    <a:tint val="82000"/>
                  </a:schemeClr>
                </a:solidFill>
              </a:defRPr>
            </a:lvl2pPr>
            <a:lvl3pPr marL="1371600" indent="0">
              <a:buNone/>
              <a:defRPr sz="2700">
                <a:solidFill>
                  <a:schemeClr val="tx1">
                    <a:tint val="82000"/>
                  </a:schemeClr>
                </a:solidFill>
              </a:defRPr>
            </a:lvl3pPr>
            <a:lvl4pPr marL="2057400" indent="0">
              <a:buNone/>
              <a:defRPr sz="2400">
                <a:solidFill>
                  <a:schemeClr val="tx1">
                    <a:tint val="82000"/>
                  </a:schemeClr>
                </a:solidFill>
              </a:defRPr>
            </a:lvl4pPr>
            <a:lvl5pPr marL="2743200" indent="0">
              <a:buNone/>
              <a:defRPr sz="2400">
                <a:solidFill>
                  <a:schemeClr val="tx1">
                    <a:tint val="82000"/>
                  </a:schemeClr>
                </a:solidFill>
              </a:defRPr>
            </a:lvl5pPr>
            <a:lvl6pPr marL="3429000" indent="0">
              <a:buNone/>
              <a:defRPr sz="2400">
                <a:solidFill>
                  <a:schemeClr val="tx1">
                    <a:tint val="82000"/>
                  </a:schemeClr>
                </a:solidFill>
              </a:defRPr>
            </a:lvl6pPr>
            <a:lvl7pPr marL="4114800" indent="0">
              <a:buNone/>
              <a:defRPr sz="2400">
                <a:solidFill>
                  <a:schemeClr val="tx1">
                    <a:tint val="82000"/>
                  </a:schemeClr>
                </a:solidFill>
              </a:defRPr>
            </a:lvl7pPr>
            <a:lvl8pPr marL="4800600" indent="0">
              <a:buNone/>
              <a:defRPr sz="2400">
                <a:solidFill>
                  <a:schemeClr val="tx1">
                    <a:tint val="82000"/>
                  </a:schemeClr>
                </a:solidFill>
              </a:defRPr>
            </a:lvl8pPr>
            <a:lvl9pPr marL="5486400" indent="0">
              <a:buNone/>
              <a:defRPr sz="24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53524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06725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59378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83914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98963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69821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32022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89166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08977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82000"/>
                  </a:schemeClr>
                </a:solidFill>
              </a:defRPr>
            </a:lvl1pPr>
          </a:lstStyle>
          <a:p>
            <a:fld id="{1D8BD707-D9CF-40AE-B4C6-C98DA3205C09}" type="datetimeFigureOut">
              <a:rPr lang="en-US" smtClean="0"/>
              <a:pPr/>
              <a:t>11/14/2025</a:t>
            </a:fld>
            <a:endParaRPr 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82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01002748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TextBox 2"/>
          <p:cNvSpPr txBox="1"/>
          <p:nvPr/>
        </p:nvSpPr>
        <p:spPr>
          <a:xfrm>
            <a:off x="1451122" y="3084782"/>
            <a:ext cx="16237135" cy="3152689"/>
          </a:xfrm>
          <a:prstGeom prst="rect">
            <a:avLst/>
          </a:prstGeom>
        </p:spPr>
        <p:txBody>
          <a:bodyPr lIns="0" tIns="0" rIns="0" bIns="0" rtlCol="0" anchor="t">
            <a:spAutoFit/>
          </a:bodyPr>
          <a:lstStyle/>
          <a:p>
            <a:pPr algn="ctr">
              <a:lnSpc>
                <a:spcPts val="12599"/>
              </a:lnSpc>
              <a:spcBef>
                <a:spcPct val="0"/>
              </a:spcBef>
            </a:pPr>
            <a:r>
              <a:rPr lang="en-US" sz="9000" dirty="0">
                <a:solidFill>
                  <a:srgbClr val="424242"/>
                </a:solidFill>
                <a:latin typeface="Maragsa"/>
                <a:ea typeface="Maragsa"/>
                <a:cs typeface="Maragsa"/>
                <a:sym typeface="Maragsa"/>
              </a:rPr>
              <a:t>SUPERVISED MACHINE LEARNING PROJECT</a:t>
            </a:r>
          </a:p>
        </p:txBody>
      </p:sp>
      <p:sp>
        <p:nvSpPr>
          <p:cNvPr id="4" name="Freeform 4"/>
          <p:cNvSpPr/>
          <p:nvPr/>
        </p:nvSpPr>
        <p:spPr>
          <a:xfrm>
            <a:off x="15030195" y="7090364"/>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TextBox 6"/>
          <p:cNvSpPr txBox="1"/>
          <p:nvPr/>
        </p:nvSpPr>
        <p:spPr>
          <a:xfrm>
            <a:off x="9569689" y="7642772"/>
            <a:ext cx="2479651" cy="431822"/>
          </a:xfrm>
          <a:prstGeom prst="rect">
            <a:avLst/>
          </a:prstGeom>
        </p:spPr>
        <p:txBody>
          <a:bodyPr lIns="0" tIns="0" rIns="0" bIns="0" rtlCol="0" anchor="t">
            <a:spAutoFit/>
          </a:bodyPr>
          <a:lstStyle/>
          <a:p>
            <a:pPr algn="ctr">
              <a:lnSpc>
                <a:spcPts val="3499"/>
              </a:lnSpc>
              <a:spcBef>
                <a:spcPct val="0"/>
              </a:spcBef>
            </a:pPr>
            <a:r>
              <a:rPr lang="en-US" sz="2499">
                <a:solidFill>
                  <a:srgbClr val="000000"/>
                </a:solidFill>
                <a:latin typeface="Arial"/>
                <a:ea typeface="Arial"/>
                <a:cs typeface="Arial"/>
                <a:sym typeface="Arial"/>
              </a:rPr>
              <a:t>Presented By :</a:t>
            </a:r>
          </a:p>
        </p:txBody>
      </p:sp>
      <p:sp>
        <p:nvSpPr>
          <p:cNvPr id="7" name="TextBox 7"/>
          <p:cNvSpPr txBox="1"/>
          <p:nvPr/>
        </p:nvSpPr>
        <p:spPr>
          <a:xfrm>
            <a:off x="11290061" y="8341321"/>
            <a:ext cx="4904444" cy="858440"/>
          </a:xfrm>
          <a:prstGeom prst="rect">
            <a:avLst/>
          </a:prstGeom>
        </p:spPr>
        <p:txBody>
          <a:bodyPr lIns="0" tIns="0" rIns="0" bIns="0" rtlCol="0" anchor="t">
            <a:spAutoFit/>
          </a:bodyPr>
          <a:lstStyle/>
          <a:p>
            <a:pPr algn="l">
              <a:lnSpc>
                <a:spcPts val="3499"/>
              </a:lnSpc>
            </a:pPr>
            <a:r>
              <a:rPr lang="en-US" sz="2499" dirty="0">
                <a:solidFill>
                  <a:srgbClr val="000000"/>
                </a:solidFill>
                <a:latin typeface="Arial"/>
                <a:ea typeface="Arial"/>
                <a:cs typeface="Arial"/>
                <a:sym typeface="Arial"/>
              </a:rPr>
              <a:t>Name   : ABDUL KADHAR M</a:t>
            </a:r>
          </a:p>
          <a:p>
            <a:pPr algn="l">
              <a:lnSpc>
                <a:spcPts val="3499"/>
              </a:lnSpc>
            </a:pPr>
            <a:r>
              <a:rPr lang="en-US" sz="2499" dirty="0">
                <a:solidFill>
                  <a:srgbClr val="000000"/>
                </a:solidFill>
                <a:latin typeface="Arial"/>
                <a:ea typeface="Arial"/>
                <a:cs typeface="Arial"/>
                <a:sym typeface="Arial"/>
              </a:rPr>
              <a:t>Course : DADS July A Cohort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TextBox 2"/>
          <p:cNvSpPr txBox="1"/>
          <p:nvPr/>
        </p:nvSpPr>
        <p:spPr>
          <a:xfrm>
            <a:off x="6031586" y="596900"/>
            <a:ext cx="6224827"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INTRODUCTION</a:t>
            </a:r>
          </a:p>
        </p:txBody>
      </p:sp>
      <p:sp>
        <p:nvSpPr>
          <p:cNvPr id="3" name="TextBox 3"/>
          <p:cNvSpPr txBox="1"/>
          <p:nvPr/>
        </p:nvSpPr>
        <p:spPr>
          <a:xfrm>
            <a:off x="1806795" y="7954501"/>
            <a:ext cx="3149160" cy="679394"/>
          </a:xfrm>
          <a:prstGeom prst="rect">
            <a:avLst/>
          </a:prstGeom>
        </p:spPr>
        <p:txBody>
          <a:bodyPr lIns="0" tIns="0" rIns="0" bIns="0" rtlCol="0" anchor="t">
            <a:spAutoFit/>
          </a:bodyPr>
          <a:lstStyle/>
          <a:p>
            <a:pPr algn="ctr">
              <a:lnSpc>
                <a:spcPts val="5599"/>
              </a:lnSpc>
              <a:spcBef>
                <a:spcPct val="0"/>
              </a:spcBef>
            </a:pPr>
            <a:r>
              <a:rPr lang="en-US" sz="3999">
                <a:solidFill>
                  <a:srgbClr val="F8F4EB"/>
                </a:solidFill>
                <a:latin typeface="Maragsa"/>
                <a:ea typeface="Maragsa"/>
                <a:cs typeface="Maragsa"/>
                <a:sym typeface="Maragsa"/>
              </a:rPr>
              <a:t>Lars Peeters</a:t>
            </a:r>
          </a:p>
        </p:txBody>
      </p:sp>
      <p:sp>
        <p:nvSpPr>
          <p:cNvPr id="4" name="TextBox 4"/>
          <p:cNvSpPr txBox="1"/>
          <p:nvPr/>
        </p:nvSpPr>
        <p:spPr>
          <a:xfrm>
            <a:off x="7886081" y="7954501"/>
            <a:ext cx="2515313" cy="679394"/>
          </a:xfrm>
          <a:prstGeom prst="rect">
            <a:avLst/>
          </a:prstGeom>
        </p:spPr>
        <p:txBody>
          <a:bodyPr lIns="0" tIns="0" rIns="0" bIns="0" rtlCol="0" anchor="t">
            <a:spAutoFit/>
          </a:bodyPr>
          <a:lstStyle/>
          <a:p>
            <a:pPr algn="ctr">
              <a:lnSpc>
                <a:spcPts val="5599"/>
              </a:lnSpc>
              <a:spcBef>
                <a:spcPct val="0"/>
              </a:spcBef>
            </a:pPr>
            <a:r>
              <a:rPr lang="en-US" sz="3999">
                <a:solidFill>
                  <a:srgbClr val="F8F4EB"/>
                </a:solidFill>
                <a:latin typeface="Maragsa"/>
                <a:ea typeface="Maragsa"/>
                <a:cs typeface="Maragsa"/>
                <a:sym typeface="Maragsa"/>
              </a:rPr>
              <a:t>Teddy Yu</a:t>
            </a:r>
          </a:p>
        </p:txBody>
      </p:sp>
      <p:sp>
        <p:nvSpPr>
          <p:cNvPr id="5" name="TextBox 5"/>
          <p:cNvSpPr txBox="1"/>
          <p:nvPr/>
        </p:nvSpPr>
        <p:spPr>
          <a:xfrm>
            <a:off x="13685420" y="7954501"/>
            <a:ext cx="2441883" cy="679394"/>
          </a:xfrm>
          <a:prstGeom prst="rect">
            <a:avLst/>
          </a:prstGeom>
        </p:spPr>
        <p:txBody>
          <a:bodyPr lIns="0" tIns="0" rIns="0" bIns="0" rtlCol="0" anchor="t">
            <a:spAutoFit/>
          </a:bodyPr>
          <a:lstStyle/>
          <a:p>
            <a:pPr algn="ctr">
              <a:lnSpc>
                <a:spcPts val="5599"/>
              </a:lnSpc>
              <a:spcBef>
                <a:spcPct val="0"/>
              </a:spcBef>
            </a:pPr>
            <a:r>
              <a:rPr lang="en-US" sz="3999">
                <a:solidFill>
                  <a:srgbClr val="F8F4EB"/>
                </a:solidFill>
                <a:latin typeface="Maragsa"/>
                <a:ea typeface="Maragsa"/>
                <a:cs typeface="Maragsa"/>
                <a:sym typeface="Maragsa"/>
              </a:rPr>
              <a:t>Chidi Eze</a:t>
            </a:r>
          </a:p>
        </p:txBody>
      </p:sp>
      <p:sp>
        <p:nvSpPr>
          <p:cNvPr id="6" name="TextBox 6"/>
          <p:cNvSpPr txBox="1"/>
          <p:nvPr/>
        </p:nvSpPr>
        <p:spPr>
          <a:xfrm>
            <a:off x="1493603" y="2107746"/>
            <a:ext cx="15300793" cy="2085975"/>
          </a:xfrm>
          <a:prstGeom prst="rect">
            <a:avLst/>
          </a:prstGeom>
        </p:spPr>
        <p:txBody>
          <a:bodyPr lIns="0" tIns="0" rIns="0" bIns="0" rtlCol="0" anchor="t">
            <a:spAutoFit/>
          </a:bodyPr>
          <a:lstStyle/>
          <a:p>
            <a:pPr algn="just">
              <a:lnSpc>
                <a:spcPts val="4199"/>
              </a:lnSpc>
            </a:pPr>
            <a:r>
              <a:rPr lang="en-US" sz="2999" dirty="0">
                <a:solidFill>
                  <a:srgbClr val="000000"/>
                </a:solidFill>
                <a:latin typeface="Arial"/>
                <a:ea typeface="Arial"/>
                <a:cs typeface="Arial"/>
                <a:sym typeface="Arial"/>
              </a:rPr>
              <a:t>The project uses the Telco Customer Churn dataset to explore key factors such as tenure, contract type, monthly charges, and internet services that influence customer decisions. By applying machine learning techniques, the project aims to predict whether a customer will churn and provide insights to help the company develop effective retention strategies.</a:t>
            </a:r>
          </a:p>
        </p:txBody>
      </p:sp>
      <p:sp>
        <p:nvSpPr>
          <p:cNvPr id="7" name="TextBox 7"/>
          <p:cNvSpPr txBox="1"/>
          <p:nvPr/>
        </p:nvSpPr>
        <p:spPr>
          <a:xfrm>
            <a:off x="1989708" y="6168564"/>
            <a:ext cx="14731210" cy="3657600"/>
          </a:xfrm>
          <a:prstGeom prst="rect">
            <a:avLst/>
          </a:prstGeom>
        </p:spPr>
        <p:txBody>
          <a:bodyPr lIns="0" tIns="0" rIns="0" bIns="0" rtlCol="0" anchor="t">
            <a:spAutoFit/>
          </a:bodyPr>
          <a:lstStyle/>
          <a:p>
            <a:pPr marL="647697" lvl="1" indent="-323848" algn="just">
              <a:lnSpc>
                <a:spcPts val="4199"/>
              </a:lnSpc>
              <a:buFont typeface="Arial"/>
              <a:buChar char="•"/>
            </a:pPr>
            <a:r>
              <a:rPr lang="en-US" sz="2999">
                <a:solidFill>
                  <a:srgbClr val="000000"/>
                </a:solidFill>
                <a:latin typeface="Arial"/>
                <a:ea typeface="Arial"/>
                <a:cs typeface="Arial"/>
                <a:sym typeface="Arial"/>
              </a:rPr>
              <a:t>To load, understand, clean and preprocessing the dataset.</a:t>
            </a:r>
          </a:p>
          <a:p>
            <a:pPr marL="647697" lvl="1" indent="-323848" algn="just">
              <a:lnSpc>
                <a:spcPts val="4199"/>
              </a:lnSpc>
              <a:buFont typeface="Arial"/>
              <a:buChar char="•"/>
            </a:pPr>
            <a:r>
              <a:rPr lang="en-US" sz="2999">
                <a:solidFill>
                  <a:srgbClr val="000000"/>
                </a:solidFill>
                <a:latin typeface="Arial"/>
                <a:ea typeface="Arial"/>
                <a:cs typeface="Arial"/>
                <a:sym typeface="Arial"/>
              </a:rPr>
              <a:t>To analyze patterns in customer behavior using data visualization.</a:t>
            </a:r>
          </a:p>
          <a:p>
            <a:pPr marL="647697" lvl="1" indent="-323848" algn="just">
              <a:lnSpc>
                <a:spcPts val="4199"/>
              </a:lnSpc>
              <a:buFont typeface="Arial"/>
              <a:buChar char="•"/>
            </a:pPr>
            <a:r>
              <a:rPr lang="en-US" sz="2999">
                <a:solidFill>
                  <a:srgbClr val="000000"/>
                </a:solidFill>
                <a:latin typeface="Arial"/>
                <a:ea typeface="Arial"/>
                <a:cs typeface="Arial"/>
                <a:sym typeface="Arial"/>
              </a:rPr>
              <a:t>To predict whether a customer will churn or stay using machine learning.</a:t>
            </a:r>
          </a:p>
          <a:p>
            <a:pPr marL="647697" lvl="1" indent="-323848" algn="just">
              <a:lnSpc>
                <a:spcPts val="4199"/>
              </a:lnSpc>
              <a:buFont typeface="Arial"/>
              <a:buChar char="•"/>
            </a:pPr>
            <a:r>
              <a:rPr lang="en-US" sz="2999">
                <a:solidFill>
                  <a:srgbClr val="000000"/>
                </a:solidFill>
                <a:latin typeface="Arial"/>
                <a:ea typeface="Arial"/>
                <a:cs typeface="Arial"/>
                <a:sym typeface="Arial"/>
              </a:rPr>
              <a:t>To compare different models and select the one with the best accuracy.</a:t>
            </a:r>
          </a:p>
          <a:p>
            <a:pPr marL="647697" lvl="1" indent="-323848" algn="just">
              <a:lnSpc>
                <a:spcPts val="4199"/>
              </a:lnSpc>
              <a:buFont typeface="Arial"/>
              <a:buChar char="•"/>
            </a:pPr>
            <a:r>
              <a:rPr lang="en-US" sz="2999">
                <a:solidFill>
                  <a:srgbClr val="000000"/>
                </a:solidFill>
                <a:latin typeface="Arial"/>
                <a:ea typeface="Arial"/>
                <a:cs typeface="Arial"/>
                <a:sym typeface="Arial"/>
              </a:rPr>
              <a:t>To save and load the best model as a .pkl file.</a:t>
            </a:r>
          </a:p>
          <a:p>
            <a:pPr marL="647697" lvl="1" indent="-323848" algn="just">
              <a:lnSpc>
                <a:spcPts val="4199"/>
              </a:lnSpc>
              <a:buFont typeface="Arial"/>
              <a:buChar char="•"/>
            </a:pPr>
            <a:r>
              <a:rPr lang="en-US" sz="2999">
                <a:solidFill>
                  <a:srgbClr val="000000"/>
                </a:solidFill>
                <a:latin typeface="Arial"/>
                <a:ea typeface="Arial"/>
                <a:cs typeface="Arial"/>
                <a:sym typeface="Arial"/>
              </a:rPr>
              <a:t>To deploy the best model using Streamlit for live churn prediction.</a:t>
            </a:r>
          </a:p>
          <a:p>
            <a:pPr marL="647697" lvl="1" indent="-323848" algn="just">
              <a:lnSpc>
                <a:spcPts val="4199"/>
              </a:lnSpc>
              <a:buFont typeface="Arial"/>
              <a:buChar char="•"/>
            </a:pPr>
            <a:r>
              <a:rPr lang="en-US" sz="2999">
                <a:solidFill>
                  <a:srgbClr val="000000"/>
                </a:solidFill>
                <a:latin typeface="Arial"/>
                <a:ea typeface="Arial"/>
                <a:cs typeface="Arial"/>
                <a:sym typeface="Arial"/>
              </a:rPr>
              <a:t>To help the telecom company improve customer retention and reduce revenue loss.</a:t>
            </a:r>
          </a:p>
        </p:txBody>
      </p:sp>
      <p:sp>
        <p:nvSpPr>
          <p:cNvPr id="8" name="TextBox 8"/>
          <p:cNvSpPr txBox="1"/>
          <p:nvPr/>
        </p:nvSpPr>
        <p:spPr>
          <a:xfrm>
            <a:off x="6031586" y="4550905"/>
            <a:ext cx="6224827"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PROJECT  GOALS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4" name="TextBox 4"/>
          <p:cNvSpPr txBox="1"/>
          <p:nvPr/>
        </p:nvSpPr>
        <p:spPr>
          <a:xfrm>
            <a:off x="4910909" y="365125"/>
            <a:ext cx="8612218"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PROBLEM  STATEMENT</a:t>
            </a:r>
          </a:p>
        </p:txBody>
      </p:sp>
      <p:sp>
        <p:nvSpPr>
          <p:cNvPr id="5" name="TextBox 5"/>
          <p:cNvSpPr txBox="1"/>
          <p:nvPr/>
        </p:nvSpPr>
        <p:spPr>
          <a:xfrm>
            <a:off x="1101718" y="1747837"/>
            <a:ext cx="16084565" cy="2609850"/>
          </a:xfrm>
          <a:prstGeom prst="rect">
            <a:avLst/>
          </a:prstGeom>
        </p:spPr>
        <p:txBody>
          <a:bodyPr lIns="0" tIns="0" rIns="0" bIns="0" rtlCol="0" anchor="t">
            <a:spAutoFit/>
          </a:bodyPr>
          <a:lstStyle/>
          <a:p>
            <a:pPr algn="just">
              <a:lnSpc>
                <a:spcPts val="4199"/>
              </a:lnSpc>
            </a:pPr>
            <a:r>
              <a:rPr lang="en-US" sz="2999">
                <a:solidFill>
                  <a:srgbClr val="000000"/>
                </a:solidFill>
                <a:latin typeface="Arial"/>
                <a:ea typeface="Arial"/>
                <a:cs typeface="Arial"/>
                <a:sym typeface="Arial"/>
              </a:rPr>
              <a:t>Customer churn is a major challenge in the telecommunications industry, directly impacting revenue and business growth. This project aims to analyze customer data to identify the key factors influencing churn and to develop a machine learning model capable of predicting whether a customer is likely to leave the company. The insights gained from this analysis will support the development of effective strategies to reduce churn and enhance customer loyalty.</a:t>
            </a:r>
          </a:p>
        </p:txBody>
      </p:sp>
      <p:sp>
        <p:nvSpPr>
          <p:cNvPr id="6" name="TextBox 6"/>
          <p:cNvSpPr txBox="1"/>
          <p:nvPr/>
        </p:nvSpPr>
        <p:spPr>
          <a:xfrm>
            <a:off x="4837891" y="4479925"/>
            <a:ext cx="8612218"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PROJECT  OBJECTIVE</a:t>
            </a:r>
          </a:p>
        </p:txBody>
      </p:sp>
      <p:sp>
        <p:nvSpPr>
          <p:cNvPr id="7" name="TextBox 7"/>
          <p:cNvSpPr txBox="1"/>
          <p:nvPr/>
        </p:nvSpPr>
        <p:spPr>
          <a:xfrm>
            <a:off x="758357" y="5749925"/>
            <a:ext cx="16500943" cy="4181475"/>
          </a:xfrm>
          <a:prstGeom prst="rect">
            <a:avLst/>
          </a:prstGeom>
        </p:spPr>
        <p:txBody>
          <a:bodyPr lIns="0" tIns="0" rIns="0" bIns="0" rtlCol="0" anchor="t">
            <a:spAutoFit/>
          </a:bodyPr>
          <a:lstStyle/>
          <a:p>
            <a:pPr marL="647697" lvl="1" indent="-323848" algn="just">
              <a:lnSpc>
                <a:spcPts val="4199"/>
              </a:lnSpc>
              <a:buFont typeface="Arial"/>
              <a:buChar char="•"/>
            </a:pPr>
            <a:r>
              <a:rPr lang="en-US" sz="2999">
                <a:solidFill>
                  <a:srgbClr val="000000"/>
                </a:solidFill>
                <a:latin typeface="Arial"/>
                <a:ea typeface="Arial"/>
                <a:cs typeface="Arial"/>
                <a:sym typeface="Arial"/>
              </a:rPr>
              <a:t>This project focuses on predicting customer churn in a telecom company using the Telco Customer Churn dataset.</a:t>
            </a:r>
          </a:p>
          <a:p>
            <a:pPr marL="647697" lvl="1" indent="-323848" algn="just">
              <a:lnSpc>
                <a:spcPts val="4199"/>
              </a:lnSpc>
              <a:buFont typeface="Arial"/>
              <a:buChar char="•"/>
            </a:pPr>
            <a:r>
              <a:rPr lang="en-US" sz="2999">
                <a:solidFill>
                  <a:srgbClr val="000000"/>
                </a:solidFill>
                <a:latin typeface="Arial"/>
                <a:ea typeface="Arial"/>
                <a:cs typeface="Arial"/>
                <a:sym typeface="Arial"/>
              </a:rPr>
              <a:t>It involves data cleaning, exploratory data analysis, and the application of machine learning models such as Logistic Regression, SVM, KNN, Decision Tree, and Random Forest.</a:t>
            </a:r>
          </a:p>
          <a:p>
            <a:pPr marL="647697" lvl="1" indent="-323848" algn="just">
              <a:lnSpc>
                <a:spcPts val="4199"/>
              </a:lnSpc>
              <a:buFont typeface="Arial"/>
              <a:buChar char="•"/>
            </a:pPr>
            <a:r>
              <a:rPr lang="en-US" sz="2999">
                <a:solidFill>
                  <a:srgbClr val="000000"/>
                </a:solidFill>
                <a:latin typeface="Arial"/>
                <a:ea typeface="Arial"/>
                <a:cs typeface="Arial"/>
                <a:sym typeface="Arial"/>
              </a:rPr>
              <a:t>The goal is to identify the key factors influencing churn and build a model that accurately predicts whether a customer will stay or leave.</a:t>
            </a:r>
          </a:p>
          <a:p>
            <a:pPr marL="647697" lvl="1" indent="-323848" algn="just">
              <a:lnSpc>
                <a:spcPts val="4199"/>
              </a:lnSpc>
              <a:buFont typeface="Arial"/>
              <a:buChar char="•"/>
            </a:pPr>
            <a:r>
              <a:rPr lang="en-US" sz="2999">
                <a:solidFill>
                  <a:srgbClr val="000000"/>
                </a:solidFill>
                <a:latin typeface="Arial"/>
                <a:ea typeface="Arial"/>
                <a:cs typeface="Arial"/>
                <a:sym typeface="Arial"/>
              </a:rPr>
              <a:t>The insights gained will help the company improve customer retention and reduce revenue loss.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4" name="Freeform 4"/>
          <p:cNvSpPr/>
          <p:nvPr/>
        </p:nvSpPr>
        <p:spPr>
          <a:xfrm>
            <a:off x="11274918" y="3635726"/>
            <a:ext cx="6472047" cy="3015549"/>
          </a:xfrm>
          <a:custGeom>
            <a:avLst/>
            <a:gdLst/>
            <a:ahLst/>
            <a:cxnLst/>
            <a:rect l="l" t="t" r="r" b="b"/>
            <a:pathLst>
              <a:path w="6472047" h="3015549">
                <a:moveTo>
                  <a:pt x="0" y="0"/>
                </a:moveTo>
                <a:lnTo>
                  <a:pt x="6472047" y="0"/>
                </a:lnTo>
                <a:lnTo>
                  <a:pt x="6472047" y="3015548"/>
                </a:lnTo>
                <a:lnTo>
                  <a:pt x="0" y="3015548"/>
                </a:lnTo>
                <a:lnTo>
                  <a:pt x="0" y="0"/>
                </a:lnTo>
                <a:close/>
              </a:path>
            </a:pathLst>
          </a:custGeom>
          <a:blipFill>
            <a:blip r:embed="rId2"/>
            <a:stretch>
              <a:fillRect l="-71424" t="-276206" r="-390509" b="-264501"/>
            </a:stretch>
          </a:blipFill>
        </p:spPr>
        <p:txBody>
          <a:bodyPr/>
          <a:lstStyle/>
          <a:p>
            <a:endParaRPr lang="en-IN"/>
          </a:p>
        </p:txBody>
      </p:sp>
      <p:sp>
        <p:nvSpPr>
          <p:cNvPr id="5" name="TextBox 5"/>
          <p:cNvSpPr txBox="1"/>
          <p:nvPr/>
        </p:nvSpPr>
        <p:spPr>
          <a:xfrm>
            <a:off x="4539894" y="684081"/>
            <a:ext cx="9910340"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IMPORTING  &amp;  LOADING </a:t>
            </a:r>
          </a:p>
        </p:txBody>
      </p:sp>
      <p:sp>
        <p:nvSpPr>
          <p:cNvPr id="6" name="TextBox 6"/>
          <p:cNvSpPr txBox="1"/>
          <p:nvPr/>
        </p:nvSpPr>
        <p:spPr>
          <a:xfrm>
            <a:off x="1322058" y="3265685"/>
            <a:ext cx="9398014" cy="3133725"/>
          </a:xfrm>
          <a:prstGeom prst="rect">
            <a:avLst/>
          </a:prstGeom>
        </p:spPr>
        <p:txBody>
          <a:bodyPr lIns="0" tIns="0" rIns="0" bIns="0" rtlCol="0" anchor="t">
            <a:spAutoFit/>
          </a:bodyPr>
          <a:lstStyle/>
          <a:p>
            <a:pPr marL="647697" lvl="1" indent="-323848" algn="just">
              <a:lnSpc>
                <a:spcPts val="4199"/>
              </a:lnSpc>
              <a:buFont typeface="Arial"/>
              <a:buChar char="•"/>
            </a:pPr>
            <a:r>
              <a:rPr lang="en-US" sz="2999">
                <a:solidFill>
                  <a:srgbClr val="000000"/>
                </a:solidFill>
                <a:latin typeface="Arial"/>
                <a:ea typeface="Arial"/>
                <a:cs typeface="Arial"/>
                <a:sym typeface="Arial"/>
              </a:rPr>
              <a:t>pandas for Handles and analyzes data in tables (DataFrames).</a:t>
            </a:r>
          </a:p>
          <a:p>
            <a:pPr marL="647697" lvl="1" indent="-323848" algn="just">
              <a:lnSpc>
                <a:spcPts val="4199"/>
              </a:lnSpc>
              <a:buFont typeface="Arial"/>
              <a:buChar char="•"/>
            </a:pPr>
            <a:r>
              <a:rPr lang="en-US" sz="2999">
                <a:solidFill>
                  <a:srgbClr val="000000"/>
                </a:solidFill>
                <a:latin typeface="Arial"/>
                <a:ea typeface="Arial"/>
                <a:cs typeface="Arial"/>
                <a:sym typeface="Arial"/>
              </a:rPr>
              <a:t>numpy for math operations on arrays and matrices.</a:t>
            </a:r>
          </a:p>
          <a:p>
            <a:pPr marL="647697" lvl="1" indent="-323848" algn="just">
              <a:lnSpc>
                <a:spcPts val="4199"/>
              </a:lnSpc>
              <a:buFont typeface="Arial"/>
              <a:buChar char="•"/>
            </a:pPr>
            <a:r>
              <a:rPr lang="en-US" sz="2999">
                <a:solidFill>
                  <a:srgbClr val="000000"/>
                </a:solidFill>
                <a:latin typeface="Arial"/>
                <a:ea typeface="Arial"/>
                <a:cs typeface="Arial"/>
                <a:sym typeface="Arial"/>
              </a:rPr>
              <a:t>matplotlib.pyplot for creating basic plots and charts.</a:t>
            </a:r>
          </a:p>
          <a:p>
            <a:pPr marL="647697" lvl="1" indent="-323848" algn="just">
              <a:lnSpc>
                <a:spcPts val="4199"/>
              </a:lnSpc>
              <a:buFont typeface="Arial"/>
              <a:buChar char="•"/>
            </a:pPr>
            <a:r>
              <a:rPr lang="en-US" sz="2999">
                <a:solidFill>
                  <a:srgbClr val="000000"/>
                </a:solidFill>
                <a:latin typeface="Arial"/>
                <a:ea typeface="Arial"/>
                <a:cs typeface="Arial"/>
                <a:sym typeface="Arial"/>
              </a:rPr>
              <a:t>seaborn to make attractive statistical plots easily.</a:t>
            </a:r>
          </a:p>
          <a:p>
            <a:pPr marL="647697" lvl="1" indent="-323848" algn="just">
              <a:lnSpc>
                <a:spcPts val="4199"/>
              </a:lnSpc>
              <a:buFont typeface="Arial"/>
              <a:buChar char="•"/>
            </a:pPr>
            <a:r>
              <a:rPr lang="en-US" sz="2999">
                <a:solidFill>
                  <a:srgbClr val="000000"/>
                </a:solidFill>
                <a:latin typeface="Arial"/>
                <a:ea typeface="Arial"/>
                <a:cs typeface="Arial"/>
                <a:sym typeface="Arial"/>
              </a:rPr>
              <a:t>warnings to hide unnecessary warning messages.</a:t>
            </a:r>
          </a:p>
        </p:txBody>
      </p:sp>
      <p:sp>
        <p:nvSpPr>
          <p:cNvPr id="8" name="TextBox 8"/>
          <p:cNvSpPr txBox="1"/>
          <p:nvPr/>
        </p:nvSpPr>
        <p:spPr>
          <a:xfrm>
            <a:off x="1322058" y="2314608"/>
            <a:ext cx="10034829" cy="514350"/>
          </a:xfrm>
          <a:prstGeom prst="rect">
            <a:avLst/>
          </a:prstGeom>
        </p:spPr>
        <p:txBody>
          <a:bodyPr lIns="0" tIns="0" rIns="0" bIns="0" rtlCol="0" anchor="t">
            <a:spAutoFit/>
          </a:bodyPr>
          <a:lstStyle/>
          <a:p>
            <a:pPr algn="just">
              <a:lnSpc>
                <a:spcPts val="4199"/>
              </a:lnSpc>
            </a:pPr>
            <a:r>
              <a:rPr lang="en-US" sz="2999" b="1">
                <a:solidFill>
                  <a:srgbClr val="000000"/>
                </a:solidFill>
                <a:latin typeface="Arial Bold"/>
                <a:ea typeface="Arial Bold"/>
                <a:cs typeface="Arial Bold"/>
                <a:sym typeface="Arial Bold"/>
              </a:rPr>
              <a:t>Imported Libraries to analyze and visualize the trends</a:t>
            </a:r>
          </a:p>
        </p:txBody>
      </p:sp>
      <p:sp>
        <p:nvSpPr>
          <p:cNvPr id="9" name="TextBox 9"/>
          <p:cNvSpPr txBox="1"/>
          <p:nvPr/>
        </p:nvSpPr>
        <p:spPr>
          <a:xfrm>
            <a:off x="1322058" y="8004663"/>
            <a:ext cx="9716422" cy="514350"/>
          </a:xfrm>
          <a:prstGeom prst="rect">
            <a:avLst/>
          </a:prstGeom>
        </p:spPr>
        <p:txBody>
          <a:bodyPr lIns="0" tIns="0" rIns="0" bIns="0" rtlCol="0" anchor="t">
            <a:spAutoFit/>
          </a:bodyPr>
          <a:lstStyle/>
          <a:p>
            <a:pPr marL="647697" lvl="1" indent="-323848" algn="just">
              <a:lnSpc>
                <a:spcPts val="4199"/>
              </a:lnSpc>
              <a:buFont typeface="Arial"/>
              <a:buChar char="•"/>
            </a:pPr>
            <a:r>
              <a:rPr lang="en-US" sz="2999">
                <a:solidFill>
                  <a:srgbClr val="000000"/>
                </a:solidFill>
                <a:latin typeface="Arial"/>
                <a:ea typeface="Arial"/>
                <a:cs typeface="Arial"/>
                <a:sym typeface="Arial"/>
              </a:rPr>
              <a:t>Loaded csv dataset using the command pd.read_csv.</a:t>
            </a:r>
          </a:p>
        </p:txBody>
      </p:sp>
      <p:sp>
        <p:nvSpPr>
          <p:cNvPr id="10" name="TextBox 10"/>
          <p:cNvSpPr txBox="1"/>
          <p:nvPr/>
        </p:nvSpPr>
        <p:spPr>
          <a:xfrm>
            <a:off x="1322058" y="7122441"/>
            <a:ext cx="10034829" cy="514350"/>
          </a:xfrm>
          <a:prstGeom prst="rect">
            <a:avLst/>
          </a:prstGeom>
        </p:spPr>
        <p:txBody>
          <a:bodyPr lIns="0" tIns="0" rIns="0" bIns="0" rtlCol="0" anchor="t">
            <a:spAutoFit/>
          </a:bodyPr>
          <a:lstStyle/>
          <a:p>
            <a:pPr algn="just">
              <a:lnSpc>
                <a:spcPts val="4199"/>
              </a:lnSpc>
            </a:pPr>
            <a:r>
              <a:rPr lang="en-US" sz="2999" b="1">
                <a:solidFill>
                  <a:srgbClr val="000000"/>
                </a:solidFill>
                <a:latin typeface="Arial Bold"/>
                <a:ea typeface="Arial Bold"/>
                <a:cs typeface="Arial Bold"/>
                <a:sym typeface="Arial Bold"/>
              </a:rPr>
              <a:t>Loading Dataset</a:t>
            </a:r>
          </a:p>
        </p:txBody>
      </p:sp>
      <p:pic>
        <p:nvPicPr>
          <p:cNvPr id="12" name="Picture 11">
            <a:extLst>
              <a:ext uri="{FF2B5EF4-FFF2-40B4-BE49-F238E27FC236}">
                <a16:creationId xmlns:a16="http://schemas.microsoft.com/office/drawing/2014/main" id="{FD205C32-1E64-72AD-ADC4-E179295C20C4}"/>
              </a:ext>
            </a:extLst>
          </p:cNvPr>
          <p:cNvPicPr>
            <a:picLocks noChangeAspect="1"/>
          </p:cNvPicPr>
          <p:nvPr/>
        </p:nvPicPr>
        <p:blipFill>
          <a:blip r:embed="rId3"/>
          <a:stretch>
            <a:fillRect/>
          </a:stretch>
        </p:blipFill>
        <p:spPr>
          <a:xfrm>
            <a:off x="2133600" y="8941550"/>
            <a:ext cx="6605347" cy="5143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4" name="Freeform 4"/>
          <p:cNvSpPr/>
          <p:nvPr/>
        </p:nvSpPr>
        <p:spPr>
          <a:xfrm>
            <a:off x="7893169" y="3176664"/>
            <a:ext cx="9523216" cy="5402083"/>
          </a:xfrm>
          <a:custGeom>
            <a:avLst/>
            <a:gdLst/>
            <a:ahLst/>
            <a:cxnLst/>
            <a:rect l="l" t="t" r="r" b="b"/>
            <a:pathLst>
              <a:path w="9523216" h="5402083">
                <a:moveTo>
                  <a:pt x="0" y="0"/>
                </a:moveTo>
                <a:lnTo>
                  <a:pt x="9523216" y="0"/>
                </a:lnTo>
                <a:lnTo>
                  <a:pt x="9523216" y="5402083"/>
                </a:lnTo>
                <a:lnTo>
                  <a:pt x="0" y="5402083"/>
                </a:lnTo>
                <a:lnTo>
                  <a:pt x="0" y="0"/>
                </a:lnTo>
                <a:close/>
              </a:path>
            </a:pathLst>
          </a:custGeom>
          <a:blipFill>
            <a:blip r:embed="rId2"/>
            <a:stretch>
              <a:fillRect l="-19548" t="-74506" r="-80336" b="-12691"/>
            </a:stretch>
          </a:blipFill>
        </p:spPr>
        <p:txBody>
          <a:bodyPr/>
          <a:lstStyle/>
          <a:p>
            <a:endParaRPr lang="en-IN"/>
          </a:p>
        </p:txBody>
      </p:sp>
      <p:sp>
        <p:nvSpPr>
          <p:cNvPr id="5" name="TextBox 5"/>
          <p:cNvSpPr txBox="1"/>
          <p:nvPr/>
        </p:nvSpPr>
        <p:spPr>
          <a:xfrm>
            <a:off x="4188830" y="365125"/>
            <a:ext cx="9910340"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DATA  UNDERSTANDING</a:t>
            </a:r>
          </a:p>
        </p:txBody>
      </p:sp>
      <p:sp>
        <p:nvSpPr>
          <p:cNvPr id="6" name="TextBox 6"/>
          <p:cNvSpPr txBox="1"/>
          <p:nvPr/>
        </p:nvSpPr>
        <p:spPr>
          <a:xfrm>
            <a:off x="1162950" y="1811206"/>
            <a:ext cx="15962100" cy="1038225"/>
          </a:xfrm>
          <a:prstGeom prst="rect">
            <a:avLst/>
          </a:prstGeom>
        </p:spPr>
        <p:txBody>
          <a:bodyPr lIns="0" tIns="0" rIns="0" bIns="0" rtlCol="0" anchor="t">
            <a:spAutoFit/>
          </a:bodyPr>
          <a:lstStyle/>
          <a:p>
            <a:pPr algn="just">
              <a:lnSpc>
                <a:spcPts val="4199"/>
              </a:lnSpc>
            </a:pPr>
            <a:r>
              <a:rPr lang="en-US" sz="2999">
                <a:solidFill>
                  <a:srgbClr val="000000"/>
                </a:solidFill>
                <a:latin typeface="Arial"/>
                <a:ea typeface="Arial"/>
                <a:cs typeface="Arial"/>
                <a:sym typeface="Arial"/>
              </a:rPr>
              <a:t>Data Understanding involves exploring the Telco Customer Churn dataset to get familiar with its structure, variables, and contents.</a:t>
            </a:r>
          </a:p>
        </p:txBody>
      </p:sp>
      <p:sp>
        <p:nvSpPr>
          <p:cNvPr id="7" name="TextBox 7"/>
          <p:cNvSpPr txBox="1"/>
          <p:nvPr/>
        </p:nvSpPr>
        <p:spPr>
          <a:xfrm>
            <a:off x="1028700" y="8705850"/>
            <a:ext cx="16387685" cy="1038225"/>
          </a:xfrm>
          <a:prstGeom prst="rect">
            <a:avLst/>
          </a:prstGeom>
        </p:spPr>
        <p:txBody>
          <a:bodyPr lIns="0" tIns="0" rIns="0" bIns="0" rtlCol="0" anchor="t">
            <a:spAutoFit/>
          </a:bodyPr>
          <a:lstStyle/>
          <a:p>
            <a:pPr algn="just">
              <a:lnSpc>
                <a:spcPts val="4199"/>
              </a:lnSpc>
            </a:pPr>
            <a:r>
              <a:rPr lang="en-US" sz="2999" b="1">
                <a:solidFill>
                  <a:srgbClr val="000000"/>
                </a:solidFill>
                <a:latin typeface="Arial Bold"/>
                <a:ea typeface="Arial Bold"/>
                <a:cs typeface="Arial Bold"/>
                <a:sym typeface="Arial Bold"/>
              </a:rPr>
              <a:t>Key Features : </a:t>
            </a:r>
          </a:p>
          <a:p>
            <a:pPr algn="l">
              <a:lnSpc>
                <a:spcPts val="4199"/>
              </a:lnSpc>
            </a:pPr>
            <a:r>
              <a:rPr lang="en-US" sz="2999">
                <a:solidFill>
                  <a:srgbClr val="000000"/>
                </a:solidFill>
                <a:latin typeface="Arial"/>
                <a:ea typeface="Arial"/>
                <a:cs typeface="Arial"/>
                <a:sym typeface="Arial"/>
              </a:rPr>
              <a:t>gender, tenure, TechSupport, Contract, PaymentMethod, MonthlyCharges, TotalCharges, Churn</a:t>
            </a:r>
          </a:p>
        </p:txBody>
      </p:sp>
      <p:sp>
        <p:nvSpPr>
          <p:cNvPr id="8" name="TextBox 8"/>
          <p:cNvSpPr txBox="1"/>
          <p:nvPr/>
        </p:nvSpPr>
        <p:spPr>
          <a:xfrm>
            <a:off x="1028700" y="7224178"/>
            <a:ext cx="6180205" cy="1038225"/>
          </a:xfrm>
          <a:prstGeom prst="rect">
            <a:avLst/>
          </a:prstGeom>
        </p:spPr>
        <p:txBody>
          <a:bodyPr lIns="0" tIns="0" rIns="0" bIns="0" rtlCol="0" anchor="t">
            <a:spAutoFit/>
          </a:bodyPr>
          <a:lstStyle/>
          <a:p>
            <a:pPr algn="just">
              <a:lnSpc>
                <a:spcPts val="4199"/>
              </a:lnSpc>
            </a:pPr>
            <a:r>
              <a:rPr lang="en-US" sz="2999" b="1">
                <a:solidFill>
                  <a:srgbClr val="000000"/>
                </a:solidFill>
                <a:latin typeface="Arial Bold"/>
                <a:ea typeface="Arial Bold"/>
                <a:cs typeface="Arial Bold"/>
                <a:sym typeface="Arial Bold"/>
              </a:rPr>
              <a:t>Dataset Overview : </a:t>
            </a:r>
          </a:p>
          <a:p>
            <a:pPr algn="ctr">
              <a:lnSpc>
                <a:spcPts val="4199"/>
              </a:lnSpc>
            </a:pPr>
            <a:r>
              <a:rPr lang="en-US" sz="2999">
                <a:solidFill>
                  <a:srgbClr val="000000"/>
                </a:solidFill>
                <a:latin typeface="Arial"/>
                <a:ea typeface="Arial"/>
                <a:cs typeface="Arial"/>
                <a:sym typeface="Arial"/>
              </a:rPr>
              <a:t>Rows : 7043  &amp;  Columns : 21</a:t>
            </a:r>
          </a:p>
        </p:txBody>
      </p:sp>
      <p:sp>
        <p:nvSpPr>
          <p:cNvPr id="9" name="TextBox 9"/>
          <p:cNvSpPr txBox="1"/>
          <p:nvPr/>
        </p:nvSpPr>
        <p:spPr>
          <a:xfrm>
            <a:off x="1168755" y="3100464"/>
            <a:ext cx="6040149" cy="3680267"/>
          </a:xfrm>
          <a:prstGeom prst="rect">
            <a:avLst/>
          </a:prstGeom>
        </p:spPr>
        <p:txBody>
          <a:bodyPr lIns="0" tIns="0" rIns="0" bIns="0" rtlCol="0" anchor="t">
            <a:spAutoFit/>
          </a:bodyPr>
          <a:lstStyle/>
          <a:p>
            <a:pPr algn="just">
              <a:lnSpc>
                <a:spcPts val="3815"/>
              </a:lnSpc>
            </a:pPr>
            <a:r>
              <a:rPr lang="en-US" sz="2725" b="1">
                <a:solidFill>
                  <a:srgbClr val="000000"/>
                </a:solidFill>
                <a:latin typeface="Arial Bold"/>
                <a:ea typeface="Arial Bold"/>
                <a:cs typeface="Arial Bold"/>
                <a:sym typeface="Arial Bold"/>
              </a:rPr>
              <a:t>Checked : </a:t>
            </a:r>
          </a:p>
          <a:p>
            <a:pPr marL="647700" lvl="1" indent="-323850" algn="just">
              <a:lnSpc>
                <a:spcPts val="4200"/>
              </a:lnSpc>
              <a:buFont typeface="Arial"/>
              <a:buChar char="•"/>
            </a:pPr>
            <a:r>
              <a:rPr lang="en-US" sz="3000">
                <a:solidFill>
                  <a:srgbClr val="000000"/>
                </a:solidFill>
                <a:latin typeface="Arial"/>
                <a:ea typeface="Arial"/>
                <a:cs typeface="Arial"/>
                <a:sym typeface="Arial"/>
              </a:rPr>
              <a:t>shape for shape of the dataset</a:t>
            </a:r>
          </a:p>
          <a:p>
            <a:pPr marL="647700" lvl="1" indent="-323850" algn="just">
              <a:lnSpc>
                <a:spcPts val="4200"/>
              </a:lnSpc>
              <a:buFont typeface="Arial"/>
              <a:buChar char="•"/>
            </a:pPr>
            <a:r>
              <a:rPr lang="en-US" sz="3000">
                <a:solidFill>
                  <a:srgbClr val="000000"/>
                </a:solidFill>
                <a:latin typeface="Arial"/>
                <a:ea typeface="Arial"/>
                <a:cs typeface="Arial"/>
                <a:sym typeface="Arial"/>
              </a:rPr>
              <a:t>columns for column names</a:t>
            </a:r>
          </a:p>
          <a:p>
            <a:pPr marL="647700" lvl="1" indent="-323850" algn="just">
              <a:lnSpc>
                <a:spcPts val="4200"/>
              </a:lnSpc>
              <a:buFont typeface="Arial"/>
              <a:buChar char="•"/>
            </a:pPr>
            <a:r>
              <a:rPr lang="en-US" sz="3000">
                <a:solidFill>
                  <a:srgbClr val="000000"/>
                </a:solidFill>
                <a:latin typeface="Arial"/>
                <a:ea typeface="Arial"/>
                <a:cs typeface="Arial"/>
                <a:sym typeface="Arial"/>
              </a:rPr>
              <a:t>isnull() for missing values</a:t>
            </a:r>
          </a:p>
          <a:p>
            <a:pPr marL="647700" lvl="1" indent="-323850" algn="just">
              <a:lnSpc>
                <a:spcPts val="4200"/>
              </a:lnSpc>
              <a:buFont typeface="Arial"/>
              <a:buChar char="•"/>
            </a:pPr>
            <a:r>
              <a:rPr lang="en-US" sz="3000">
                <a:solidFill>
                  <a:srgbClr val="000000"/>
                </a:solidFill>
                <a:latin typeface="Arial"/>
                <a:ea typeface="Arial"/>
                <a:cs typeface="Arial"/>
                <a:sym typeface="Arial"/>
              </a:rPr>
              <a:t>info() for quick overview of data</a:t>
            </a:r>
          </a:p>
          <a:p>
            <a:pPr marL="647700" lvl="1" indent="-323850" algn="just">
              <a:lnSpc>
                <a:spcPts val="4200"/>
              </a:lnSpc>
              <a:buFont typeface="Arial"/>
              <a:buChar char="•"/>
            </a:pPr>
            <a:r>
              <a:rPr lang="en-US" sz="3000">
                <a:solidFill>
                  <a:srgbClr val="000000"/>
                </a:solidFill>
                <a:latin typeface="Arial"/>
                <a:ea typeface="Arial"/>
                <a:cs typeface="Arial"/>
                <a:sym typeface="Arial"/>
              </a:rPr>
              <a:t>head() for first five rows</a:t>
            </a:r>
          </a:p>
          <a:p>
            <a:pPr marL="647700" lvl="1" indent="-323850" algn="just">
              <a:lnSpc>
                <a:spcPts val="4200"/>
              </a:lnSpc>
              <a:buFont typeface="Arial"/>
              <a:buChar char="•"/>
            </a:pPr>
            <a:r>
              <a:rPr lang="en-US" sz="3000">
                <a:solidFill>
                  <a:srgbClr val="000000"/>
                </a:solidFill>
                <a:latin typeface="Arial"/>
                <a:ea typeface="Arial"/>
                <a:cs typeface="Arial"/>
                <a:sym typeface="Arial"/>
              </a:rPr>
              <a:t>tail() for last five rows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4" name="TextBox 4"/>
          <p:cNvSpPr txBox="1"/>
          <p:nvPr/>
        </p:nvSpPr>
        <p:spPr>
          <a:xfrm>
            <a:off x="5866591" y="365125"/>
            <a:ext cx="6554818"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DATA  CLEANING</a:t>
            </a:r>
          </a:p>
        </p:txBody>
      </p:sp>
      <p:sp>
        <p:nvSpPr>
          <p:cNvPr id="5" name="TextBox 5"/>
          <p:cNvSpPr txBox="1"/>
          <p:nvPr/>
        </p:nvSpPr>
        <p:spPr>
          <a:xfrm>
            <a:off x="1542178" y="7584083"/>
            <a:ext cx="8923036" cy="1562100"/>
          </a:xfrm>
          <a:prstGeom prst="rect">
            <a:avLst/>
          </a:prstGeom>
        </p:spPr>
        <p:txBody>
          <a:bodyPr lIns="0" tIns="0" rIns="0" bIns="0" rtlCol="0" anchor="t">
            <a:spAutoFit/>
          </a:bodyPr>
          <a:lstStyle/>
          <a:p>
            <a:pPr marL="647697" lvl="1" indent="-323848" algn="just">
              <a:lnSpc>
                <a:spcPts val="4199"/>
              </a:lnSpc>
              <a:buFont typeface="Arial"/>
              <a:buChar char="•"/>
            </a:pPr>
            <a:r>
              <a:rPr lang="en-US" sz="2999" b="1" dirty="0">
                <a:solidFill>
                  <a:srgbClr val="000000"/>
                </a:solidFill>
                <a:latin typeface="Arial Bold"/>
                <a:ea typeface="Arial Bold"/>
                <a:cs typeface="Arial Bold"/>
                <a:sym typeface="Arial Bold"/>
              </a:rPr>
              <a:t>Before cleaning               After cleaning</a:t>
            </a:r>
          </a:p>
          <a:p>
            <a:pPr algn="just">
              <a:lnSpc>
                <a:spcPts val="4199"/>
              </a:lnSpc>
            </a:pPr>
            <a:r>
              <a:rPr lang="en-US" sz="2999" b="1" dirty="0">
                <a:solidFill>
                  <a:srgbClr val="000000"/>
                </a:solidFill>
                <a:latin typeface="Arial Bold"/>
                <a:ea typeface="Arial Bold"/>
                <a:cs typeface="Arial Bold"/>
                <a:sym typeface="Arial Bold"/>
              </a:rPr>
              <a:t>       </a:t>
            </a:r>
            <a:r>
              <a:rPr lang="en-US" sz="2999" dirty="0">
                <a:solidFill>
                  <a:srgbClr val="000000"/>
                </a:solidFill>
                <a:latin typeface="Arial"/>
                <a:ea typeface="Arial"/>
                <a:cs typeface="Arial"/>
                <a:sym typeface="Arial"/>
              </a:rPr>
              <a:t>Rows      - 7043                Rows      - 7043</a:t>
            </a:r>
          </a:p>
          <a:p>
            <a:pPr algn="just">
              <a:lnSpc>
                <a:spcPts val="4199"/>
              </a:lnSpc>
            </a:pPr>
            <a:r>
              <a:rPr lang="en-US" sz="2999" dirty="0">
                <a:solidFill>
                  <a:srgbClr val="000000"/>
                </a:solidFill>
                <a:latin typeface="Arial"/>
                <a:ea typeface="Arial"/>
                <a:cs typeface="Arial"/>
                <a:sym typeface="Arial"/>
              </a:rPr>
              <a:t>       Columns - 21                    Columns - 20</a:t>
            </a:r>
          </a:p>
        </p:txBody>
      </p:sp>
      <p:sp>
        <p:nvSpPr>
          <p:cNvPr id="6" name="TextBox 6"/>
          <p:cNvSpPr txBox="1"/>
          <p:nvPr/>
        </p:nvSpPr>
        <p:spPr>
          <a:xfrm>
            <a:off x="1542178" y="2705003"/>
            <a:ext cx="15203643" cy="4800793"/>
          </a:xfrm>
          <a:prstGeom prst="rect">
            <a:avLst/>
          </a:prstGeom>
        </p:spPr>
        <p:txBody>
          <a:bodyPr lIns="0" tIns="0" rIns="0" bIns="0" rtlCol="0" anchor="t">
            <a:spAutoFit/>
          </a:bodyPr>
          <a:lstStyle/>
          <a:p>
            <a:pPr marL="647700" lvl="1" indent="-323850" algn="just">
              <a:lnSpc>
                <a:spcPts val="4200"/>
              </a:lnSpc>
              <a:buFont typeface="Arial"/>
              <a:buChar char="•"/>
            </a:pPr>
            <a:r>
              <a:rPr lang="en-US" sz="3000">
                <a:solidFill>
                  <a:srgbClr val="000000"/>
                </a:solidFill>
                <a:latin typeface="Arial"/>
                <a:ea typeface="Arial"/>
                <a:cs typeface="Arial"/>
                <a:sym typeface="Arial"/>
              </a:rPr>
              <a:t>Checked for duplicate values using </a:t>
            </a:r>
            <a:r>
              <a:rPr lang="en-US" sz="3000" b="1">
                <a:solidFill>
                  <a:srgbClr val="000000"/>
                </a:solidFill>
                <a:latin typeface="Arial Bold"/>
                <a:ea typeface="Arial Bold"/>
                <a:cs typeface="Arial Bold"/>
                <a:sym typeface="Arial Bold"/>
              </a:rPr>
              <a:t>dropduplicates</a:t>
            </a:r>
            <a:r>
              <a:rPr lang="en-US" sz="3000">
                <a:solidFill>
                  <a:srgbClr val="000000"/>
                </a:solidFill>
                <a:latin typeface="Arial"/>
                <a:ea typeface="Arial"/>
                <a:cs typeface="Arial"/>
                <a:sym typeface="Arial"/>
              </a:rPr>
              <a:t> command and there were no duplicates in the dataset.</a:t>
            </a:r>
          </a:p>
          <a:p>
            <a:pPr marL="647700" lvl="1" indent="-323850" algn="just">
              <a:lnSpc>
                <a:spcPts val="4200"/>
              </a:lnSpc>
              <a:buFont typeface="Arial"/>
              <a:buChar char="•"/>
            </a:pPr>
            <a:r>
              <a:rPr lang="en-US" sz="3000">
                <a:solidFill>
                  <a:srgbClr val="000000"/>
                </a:solidFill>
                <a:latin typeface="Arial"/>
                <a:ea typeface="Arial"/>
                <a:cs typeface="Arial"/>
                <a:sym typeface="Arial"/>
              </a:rPr>
              <a:t>Dropped unwanted features for better analysis.</a:t>
            </a:r>
          </a:p>
          <a:p>
            <a:pPr marL="647700" lvl="1" indent="-323850" algn="just">
              <a:lnSpc>
                <a:spcPts val="4200"/>
              </a:lnSpc>
              <a:buFont typeface="Arial"/>
              <a:buChar char="•"/>
            </a:pPr>
            <a:r>
              <a:rPr lang="en-US" sz="3000">
                <a:solidFill>
                  <a:srgbClr val="000000"/>
                </a:solidFill>
                <a:latin typeface="Arial"/>
                <a:ea typeface="Arial"/>
                <a:cs typeface="Arial"/>
                <a:sym typeface="Arial"/>
              </a:rPr>
              <a:t>Changed appropriate datatypes (TotalCharges to </a:t>
            </a:r>
            <a:r>
              <a:rPr lang="en-US" sz="3000" b="1">
                <a:solidFill>
                  <a:srgbClr val="000000"/>
                </a:solidFill>
                <a:latin typeface="Arial Bold"/>
                <a:ea typeface="Arial Bold"/>
                <a:cs typeface="Arial Bold"/>
                <a:sym typeface="Arial Bold"/>
              </a:rPr>
              <a:t>‘numeric’</a:t>
            </a:r>
            <a:r>
              <a:rPr lang="en-US" sz="3000">
                <a:solidFill>
                  <a:srgbClr val="000000"/>
                </a:solidFill>
                <a:latin typeface="Arial"/>
                <a:ea typeface="Arial"/>
                <a:cs typeface="Arial"/>
                <a:sym typeface="Arial"/>
              </a:rPr>
              <a:t> and all other object features to ‘</a:t>
            </a:r>
            <a:r>
              <a:rPr lang="en-US" sz="3000" b="1">
                <a:solidFill>
                  <a:srgbClr val="000000"/>
                </a:solidFill>
                <a:latin typeface="Arial Bold"/>
                <a:ea typeface="Arial Bold"/>
                <a:cs typeface="Arial Bold"/>
                <a:sym typeface="Arial Bold"/>
              </a:rPr>
              <a:t>category’</a:t>
            </a:r>
            <a:r>
              <a:rPr lang="en-US" sz="3000">
                <a:solidFill>
                  <a:srgbClr val="000000"/>
                </a:solidFill>
                <a:latin typeface="Arial"/>
                <a:ea typeface="Arial"/>
                <a:cs typeface="Arial"/>
                <a:sym typeface="Arial"/>
              </a:rPr>
              <a:t> data types).</a:t>
            </a:r>
          </a:p>
          <a:p>
            <a:pPr marL="647700" lvl="1" indent="-323850" algn="just">
              <a:lnSpc>
                <a:spcPts val="4200"/>
              </a:lnSpc>
              <a:buFont typeface="Arial"/>
              <a:buChar char="•"/>
            </a:pPr>
            <a:r>
              <a:rPr lang="en-US" sz="3000">
                <a:solidFill>
                  <a:srgbClr val="000000"/>
                </a:solidFill>
                <a:latin typeface="Arial"/>
                <a:ea typeface="Arial"/>
                <a:cs typeface="Arial"/>
                <a:sym typeface="Arial"/>
              </a:rPr>
              <a:t>Handled missing values for TotalCharges using </a:t>
            </a:r>
            <a:r>
              <a:rPr lang="en-US" sz="3000" b="1">
                <a:solidFill>
                  <a:srgbClr val="000000"/>
                </a:solidFill>
                <a:latin typeface="Arial Bold"/>
                <a:ea typeface="Arial Bold"/>
                <a:cs typeface="Arial Bold"/>
                <a:sym typeface="Arial Bold"/>
              </a:rPr>
              <a:t>Median</a:t>
            </a:r>
            <a:r>
              <a:rPr lang="en-US" sz="3000">
                <a:solidFill>
                  <a:srgbClr val="000000"/>
                </a:solidFill>
                <a:latin typeface="Arial"/>
                <a:ea typeface="Arial"/>
                <a:cs typeface="Arial"/>
                <a:sym typeface="Arial"/>
              </a:rPr>
              <a:t> values.</a:t>
            </a:r>
          </a:p>
          <a:p>
            <a:pPr marL="647700" lvl="1" indent="-323850" algn="just">
              <a:lnSpc>
                <a:spcPts val="4200"/>
              </a:lnSpc>
              <a:buFont typeface="Arial"/>
              <a:buChar char="•"/>
            </a:pPr>
            <a:r>
              <a:rPr lang="en-US" sz="3000">
                <a:solidFill>
                  <a:srgbClr val="000000"/>
                </a:solidFill>
                <a:latin typeface="Arial"/>
                <a:ea typeface="Arial"/>
                <a:cs typeface="Arial"/>
                <a:sym typeface="Arial"/>
              </a:rPr>
              <a:t>Described features like tenure, MonthlyCharges and TotalCharges.</a:t>
            </a:r>
          </a:p>
          <a:p>
            <a:pPr marL="647700" lvl="1" indent="-323850" algn="just">
              <a:lnSpc>
                <a:spcPts val="4200"/>
              </a:lnSpc>
              <a:buFont typeface="Arial"/>
              <a:buChar char="•"/>
            </a:pPr>
            <a:r>
              <a:rPr lang="en-US" sz="3000">
                <a:solidFill>
                  <a:srgbClr val="000000"/>
                </a:solidFill>
                <a:latin typeface="Arial"/>
                <a:ea typeface="Arial"/>
                <a:cs typeface="Arial"/>
                <a:sym typeface="Arial"/>
              </a:rPr>
              <a:t>Checked for outliers by using Boxplot in the numeric features and there were no outliers in my dataset.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4" name="TextBox 4"/>
          <p:cNvSpPr txBox="1"/>
          <p:nvPr/>
        </p:nvSpPr>
        <p:spPr>
          <a:xfrm>
            <a:off x="3037666" y="365125"/>
            <a:ext cx="12212668"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EXPLORATORY  DATA  ANALYSIS</a:t>
            </a:r>
          </a:p>
        </p:txBody>
      </p:sp>
      <p:sp>
        <p:nvSpPr>
          <p:cNvPr id="5" name="TextBox 5"/>
          <p:cNvSpPr txBox="1"/>
          <p:nvPr/>
        </p:nvSpPr>
        <p:spPr>
          <a:xfrm>
            <a:off x="1529932" y="2051659"/>
            <a:ext cx="15228136" cy="1066843"/>
          </a:xfrm>
          <a:prstGeom prst="rect">
            <a:avLst/>
          </a:prstGeom>
        </p:spPr>
        <p:txBody>
          <a:bodyPr lIns="0" tIns="0" rIns="0" bIns="0" rtlCol="0" anchor="t">
            <a:spAutoFit/>
          </a:bodyPr>
          <a:lstStyle/>
          <a:p>
            <a:pPr algn="just">
              <a:lnSpc>
                <a:spcPts val="4200"/>
              </a:lnSpc>
            </a:pPr>
            <a:r>
              <a:rPr lang="en-US" sz="3000">
                <a:solidFill>
                  <a:srgbClr val="000000"/>
                </a:solidFill>
                <a:latin typeface="Arial"/>
                <a:ea typeface="Arial"/>
                <a:cs typeface="Arial"/>
                <a:sym typeface="Arial"/>
              </a:rPr>
              <a:t>Visualized data in EDA as UNIVARITE, BIVARIATE &amp; MULTIVARIATE for analyzing the Churn behaviour and patterns across tenure, TotalCharges, etc.</a:t>
            </a:r>
          </a:p>
        </p:txBody>
      </p:sp>
      <p:sp>
        <p:nvSpPr>
          <p:cNvPr id="6" name="TextBox 6"/>
          <p:cNvSpPr txBox="1"/>
          <p:nvPr/>
        </p:nvSpPr>
        <p:spPr>
          <a:xfrm>
            <a:off x="1621938" y="3611235"/>
            <a:ext cx="15044125" cy="4800353"/>
          </a:xfrm>
          <a:prstGeom prst="rect">
            <a:avLst/>
          </a:prstGeom>
        </p:spPr>
        <p:txBody>
          <a:bodyPr lIns="0" tIns="0" rIns="0" bIns="0" rtlCol="0" anchor="t">
            <a:spAutoFit/>
          </a:bodyPr>
          <a:lstStyle/>
          <a:p>
            <a:pPr algn="just">
              <a:lnSpc>
                <a:spcPts val="4200"/>
              </a:lnSpc>
            </a:pPr>
            <a:r>
              <a:rPr lang="en-US" sz="3000" b="1" dirty="0">
                <a:solidFill>
                  <a:srgbClr val="000000"/>
                </a:solidFill>
                <a:latin typeface="Arial Bold"/>
                <a:ea typeface="Arial Bold"/>
                <a:cs typeface="Arial Bold"/>
                <a:sym typeface="Arial Bold"/>
              </a:rPr>
              <a:t>UNIVARIATE</a:t>
            </a:r>
          </a:p>
          <a:p>
            <a:pPr marL="647700" lvl="1" indent="-323850" algn="just">
              <a:lnSpc>
                <a:spcPts val="4200"/>
              </a:lnSpc>
              <a:buFont typeface="Arial"/>
              <a:buChar char="•"/>
            </a:pPr>
            <a:r>
              <a:rPr lang="en-US" sz="3000" dirty="0" err="1">
                <a:solidFill>
                  <a:srgbClr val="000000"/>
                </a:solidFill>
                <a:latin typeface="Arial"/>
                <a:ea typeface="Arial"/>
                <a:cs typeface="Arial"/>
                <a:sym typeface="Arial"/>
              </a:rPr>
              <a:t>Countplot</a:t>
            </a:r>
            <a:r>
              <a:rPr lang="en-US" sz="3000" dirty="0">
                <a:solidFill>
                  <a:srgbClr val="000000"/>
                </a:solidFill>
                <a:latin typeface="Arial"/>
                <a:ea typeface="Arial"/>
                <a:cs typeface="Arial"/>
                <a:sym typeface="Arial"/>
              </a:rPr>
              <a:t> for visualize Churn Distribution</a:t>
            </a:r>
          </a:p>
          <a:p>
            <a:pPr algn="just">
              <a:lnSpc>
                <a:spcPts val="4200"/>
              </a:lnSpc>
            </a:pPr>
            <a:endParaRPr lang="en-US" sz="3000" dirty="0">
              <a:solidFill>
                <a:srgbClr val="000000"/>
              </a:solidFill>
              <a:latin typeface="Arial"/>
              <a:ea typeface="Arial"/>
              <a:cs typeface="Arial"/>
              <a:sym typeface="Arial"/>
            </a:endParaRPr>
          </a:p>
          <a:p>
            <a:pPr algn="just">
              <a:lnSpc>
                <a:spcPts val="4200"/>
              </a:lnSpc>
            </a:pPr>
            <a:r>
              <a:rPr lang="en-US" sz="3000" b="1" dirty="0">
                <a:solidFill>
                  <a:srgbClr val="000000"/>
                </a:solidFill>
                <a:latin typeface="Arial Bold"/>
                <a:ea typeface="Arial Bold"/>
                <a:cs typeface="Arial Bold"/>
                <a:sym typeface="Arial Bold"/>
              </a:rPr>
              <a:t>BIVARIATE</a:t>
            </a:r>
          </a:p>
          <a:p>
            <a:pPr marL="647700" lvl="1" indent="-323850" algn="just">
              <a:lnSpc>
                <a:spcPts val="4200"/>
              </a:lnSpc>
              <a:buFont typeface="Arial"/>
              <a:buChar char="•"/>
            </a:pPr>
            <a:r>
              <a:rPr lang="en-US" sz="3000" dirty="0" err="1">
                <a:solidFill>
                  <a:srgbClr val="000000"/>
                </a:solidFill>
                <a:latin typeface="Arial"/>
                <a:ea typeface="Arial"/>
                <a:cs typeface="Arial"/>
                <a:sym typeface="Arial"/>
              </a:rPr>
              <a:t>Barplot</a:t>
            </a:r>
            <a:r>
              <a:rPr lang="en-US" sz="3000" dirty="0">
                <a:solidFill>
                  <a:srgbClr val="000000"/>
                </a:solidFill>
                <a:latin typeface="Arial"/>
                <a:ea typeface="Arial"/>
                <a:cs typeface="Arial"/>
                <a:sym typeface="Arial"/>
              </a:rPr>
              <a:t> to analyze Churn vs Contract</a:t>
            </a:r>
          </a:p>
          <a:p>
            <a:pPr marL="647700" lvl="1" indent="-323850" algn="just">
              <a:lnSpc>
                <a:spcPts val="4200"/>
              </a:lnSpc>
              <a:buFont typeface="Arial"/>
              <a:buChar char="•"/>
            </a:pPr>
            <a:r>
              <a:rPr lang="en-US" sz="3000" dirty="0">
                <a:solidFill>
                  <a:srgbClr val="000000"/>
                </a:solidFill>
                <a:latin typeface="Arial"/>
                <a:ea typeface="Arial"/>
                <a:cs typeface="Arial"/>
                <a:sym typeface="Arial"/>
              </a:rPr>
              <a:t>Monthly Charges vs Churn</a:t>
            </a:r>
          </a:p>
          <a:p>
            <a:pPr algn="just">
              <a:lnSpc>
                <a:spcPts val="4200"/>
              </a:lnSpc>
            </a:pPr>
            <a:r>
              <a:rPr lang="en-US" sz="3000" b="1" dirty="0">
                <a:solidFill>
                  <a:srgbClr val="000000"/>
                </a:solidFill>
                <a:latin typeface="Arial Bold"/>
                <a:ea typeface="Arial Bold"/>
                <a:cs typeface="Arial Bold"/>
                <a:sym typeface="Arial Bold"/>
              </a:rPr>
              <a:t>MULTIVARIATE</a:t>
            </a:r>
          </a:p>
          <a:p>
            <a:pPr marL="647700" lvl="1" indent="-323850" algn="just">
              <a:lnSpc>
                <a:spcPts val="4200"/>
              </a:lnSpc>
              <a:buFont typeface="Arial"/>
              <a:buChar char="•"/>
            </a:pPr>
            <a:r>
              <a:rPr lang="en-US" sz="3000" dirty="0">
                <a:solidFill>
                  <a:srgbClr val="000000"/>
                </a:solidFill>
                <a:latin typeface="Arial" panose="020B0604020202020204" pitchFamily="34" charset="0"/>
                <a:ea typeface="Arial"/>
                <a:cs typeface="Arial" panose="020B0604020202020204" pitchFamily="34" charset="0"/>
                <a:sym typeface="Arial"/>
              </a:rPr>
              <a:t>Correlation Heatmap for numeric features like tenure, </a:t>
            </a:r>
            <a:r>
              <a:rPr lang="en-US" sz="3000" dirty="0" err="1">
                <a:solidFill>
                  <a:srgbClr val="000000"/>
                </a:solidFill>
                <a:latin typeface="Arial" panose="020B0604020202020204" pitchFamily="34" charset="0"/>
                <a:ea typeface="Arial"/>
                <a:cs typeface="Arial" panose="020B0604020202020204" pitchFamily="34" charset="0"/>
                <a:sym typeface="Arial"/>
              </a:rPr>
              <a:t>MonthlyCharges</a:t>
            </a:r>
            <a:r>
              <a:rPr lang="en-US" sz="3000" dirty="0">
                <a:solidFill>
                  <a:srgbClr val="000000"/>
                </a:solidFill>
                <a:latin typeface="Arial" panose="020B0604020202020204" pitchFamily="34" charset="0"/>
                <a:ea typeface="Arial"/>
                <a:cs typeface="Arial" panose="020B0604020202020204" pitchFamily="34" charset="0"/>
                <a:sym typeface="Arial"/>
              </a:rPr>
              <a:t>, </a:t>
            </a:r>
            <a:r>
              <a:rPr lang="en-US" sz="3000" dirty="0" err="1">
                <a:solidFill>
                  <a:srgbClr val="000000"/>
                </a:solidFill>
                <a:latin typeface="Arial" panose="020B0604020202020204" pitchFamily="34" charset="0"/>
                <a:ea typeface="Arial"/>
                <a:cs typeface="Arial" panose="020B0604020202020204" pitchFamily="34" charset="0"/>
                <a:sym typeface="Arial"/>
              </a:rPr>
              <a:t>TotalCharges</a:t>
            </a:r>
            <a:r>
              <a:rPr lang="en-US" sz="3000" dirty="0">
                <a:solidFill>
                  <a:srgbClr val="000000"/>
                </a:solidFill>
                <a:latin typeface="Arial" panose="020B0604020202020204" pitchFamily="34" charset="0"/>
                <a:ea typeface="Arial"/>
                <a:cs typeface="Arial" panose="020B0604020202020204" pitchFamily="34" charset="0"/>
                <a:sym typeface="Arial"/>
              </a:rPr>
              <a:t> and </a:t>
            </a:r>
            <a:r>
              <a:rPr lang="en-IN" sz="3200" dirty="0" err="1">
                <a:latin typeface="Arial" panose="020B0604020202020204" pitchFamily="34" charset="0"/>
                <a:cs typeface="Arial" panose="020B0604020202020204" pitchFamily="34" charset="0"/>
              </a:rPr>
              <a:t>SeniorCitizen</a:t>
            </a:r>
            <a:endParaRPr lang="en-US" sz="3000" dirty="0">
              <a:solidFill>
                <a:srgbClr val="000000"/>
              </a:solidFill>
              <a:latin typeface="Arial" panose="020B0604020202020204" pitchFamily="34" charset="0"/>
              <a:ea typeface="Arial"/>
              <a:cs typeface="Arial" panose="020B0604020202020204" pitchFamily="34" charset="0"/>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4" name="Freeform 4"/>
          <p:cNvSpPr/>
          <p:nvPr/>
        </p:nvSpPr>
        <p:spPr>
          <a:xfrm>
            <a:off x="3099511" y="4750908"/>
            <a:ext cx="5460682" cy="3782015"/>
          </a:xfrm>
          <a:custGeom>
            <a:avLst/>
            <a:gdLst/>
            <a:ahLst/>
            <a:cxnLst/>
            <a:rect l="l" t="t" r="r" b="b"/>
            <a:pathLst>
              <a:path w="5460682" h="3782015">
                <a:moveTo>
                  <a:pt x="0" y="0"/>
                </a:moveTo>
                <a:lnTo>
                  <a:pt x="5460682" y="0"/>
                </a:lnTo>
                <a:lnTo>
                  <a:pt x="5460682" y="3782015"/>
                </a:lnTo>
                <a:lnTo>
                  <a:pt x="0" y="3782015"/>
                </a:lnTo>
                <a:lnTo>
                  <a:pt x="0" y="0"/>
                </a:lnTo>
                <a:close/>
              </a:path>
            </a:pathLst>
          </a:custGeom>
          <a:blipFill>
            <a:blip r:embed="rId2"/>
            <a:stretch>
              <a:fillRect l="-21575" t="-62688" r="-152853" b="-47811"/>
            </a:stretch>
          </a:blipFill>
        </p:spPr>
        <p:txBody>
          <a:bodyPr/>
          <a:lstStyle/>
          <a:p>
            <a:endParaRPr lang="en-IN"/>
          </a:p>
        </p:txBody>
      </p:sp>
      <p:sp>
        <p:nvSpPr>
          <p:cNvPr id="5" name="Freeform 5"/>
          <p:cNvSpPr/>
          <p:nvPr/>
        </p:nvSpPr>
        <p:spPr>
          <a:xfrm>
            <a:off x="9863188" y="4906944"/>
            <a:ext cx="5850482" cy="3491527"/>
          </a:xfrm>
          <a:custGeom>
            <a:avLst/>
            <a:gdLst/>
            <a:ahLst/>
            <a:cxnLst/>
            <a:rect l="l" t="t" r="r" b="b"/>
            <a:pathLst>
              <a:path w="5850482" h="3491527">
                <a:moveTo>
                  <a:pt x="0" y="0"/>
                </a:moveTo>
                <a:lnTo>
                  <a:pt x="5850483" y="0"/>
                </a:lnTo>
                <a:lnTo>
                  <a:pt x="5850483" y="3491527"/>
                </a:lnTo>
                <a:lnTo>
                  <a:pt x="0" y="3491527"/>
                </a:lnTo>
                <a:lnTo>
                  <a:pt x="0" y="0"/>
                </a:lnTo>
                <a:close/>
              </a:path>
            </a:pathLst>
          </a:custGeom>
          <a:blipFill>
            <a:blip r:embed="rId3"/>
            <a:stretch>
              <a:fillRect l="-25266" t="-129051" r="-189214" b="-50892"/>
            </a:stretch>
          </a:blipFill>
        </p:spPr>
        <p:txBody>
          <a:bodyPr/>
          <a:lstStyle/>
          <a:p>
            <a:endParaRPr lang="en-IN"/>
          </a:p>
        </p:txBody>
      </p:sp>
      <p:sp>
        <p:nvSpPr>
          <p:cNvPr id="6" name="Freeform 6"/>
          <p:cNvSpPr/>
          <p:nvPr/>
        </p:nvSpPr>
        <p:spPr>
          <a:xfrm>
            <a:off x="3301930" y="8815043"/>
            <a:ext cx="12088382" cy="1266575"/>
          </a:xfrm>
          <a:custGeom>
            <a:avLst/>
            <a:gdLst/>
            <a:ahLst/>
            <a:cxnLst/>
            <a:rect l="l" t="t" r="r" b="b"/>
            <a:pathLst>
              <a:path w="12088382" h="1266575">
                <a:moveTo>
                  <a:pt x="0" y="0"/>
                </a:moveTo>
                <a:lnTo>
                  <a:pt x="12088382" y="0"/>
                </a:lnTo>
                <a:lnTo>
                  <a:pt x="12088382" y="1266575"/>
                </a:lnTo>
                <a:lnTo>
                  <a:pt x="0" y="1266575"/>
                </a:lnTo>
                <a:lnTo>
                  <a:pt x="0" y="0"/>
                </a:lnTo>
                <a:close/>
              </a:path>
            </a:pathLst>
          </a:custGeom>
          <a:blipFill>
            <a:blip r:embed="rId4"/>
            <a:stretch>
              <a:fillRect l="-10312" t="-344642" r="-25632" b="-244642"/>
            </a:stretch>
          </a:blipFill>
        </p:spPr>
        <p:txBody>
          <a:bodyPr/>
          <a:lstStyle/>
          <a:p>
            <a:endParaRPr lang="en-IN"/>
          </a:p>
        </p:txBody>
      </p:sp>
      <p:sp>
        <p:nvSpPr>
          <p:cNvPr id="7" name="TextBox 7"/>
          <p:cNvSpPr txBox="1"/>
          <p:nvPr/>
        </p:nvSpPr>
        <p:spPr>
          <a:xfrm>
            <a:off x="4703180" y="365125"/>
            <a:ext cx="8881640"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DATA  PREPROCESSING</a:t>
            </a:r>
          </a:p>
        </p:txBody>
      </p:sp>
      <p:sp>
        <p:nvSpPr>
          <p:cNvPr id="8" name="TextBox 8"/>
          <p:cNvSpPr txBox="1"/>
          <p:nvPr/>
        </p:nvSpPr>
        <p:spPr>
          <a:xfrm>
            <a:off x="1713943" y="1801681"/>
            <a:ext cx="15228136" cy="2667107"/>
          </a:xfrm>
          <a:prstGeom prst="rect">
            <a:avLst/>
          </a:prstGeom>
        </p:spPr>
        <p:txBody>
          <a:bodyPr lIns="0" tIns="0" rIns="0" bIns="0" rtlCol="0" anchor="t">
            <a:spAutoFit/>
          </a:bodyPr>
          <a:lstStyle/>
          <a:p>
            <a:pPr marL="647700" lvl="1" indent="-323850" algn="just">
              <a:lnSpc>
                <a:spcPts val="4200"/>
              </a:lnSpc>
              <a:buFont typeface="Arial"/>
              <a:buChar char="•"/>
            </a:pPr>
            <a:r>
              <a:rPr lang="en-US" sz="3000">
                <a:solidFill>
                  <a:srgbClr val="000000"/>
                </a:solidFill>
                <a:latin typeface="Arial"/>
                <a:ea typeface="Arial"/>
                <a:cs typeface="Arial"/>
                <a:sym typeface="Arial"/>
              </a:rPr>
              <a:t>Encoded Categorical data types to numeric data types using LABEL ENCODING, so that machine learning models can understand and process it.</a:t>
            </a:r>
          </a:p>
          <a:p>
            <a:pPr marL="647700" lvl="1" indent="-323850" algn="just">
              <a:lnSpc>
                <a:spcPts val="4200"/>
              </a:lnSpc>
              <a:buFont typeface="Arial"/>
              <a:buChar char="•"/>
            </a:pPr>
            <a:r>
              <a:rPr lang="en-US" sz="3000">
                <a:solidFill>
                  <a:srgbClr val="000000"/>
                </a:solidFill>
                <a:latin typeface="Arial"/>
                <a:ea typeface="Arial"/>
                <a:cs typeface="Arial"/>
                <a:sym typeface="Arial"/>
              </a:rPr>
              <a:t>Standardization using Feature scaling so that no feature dominates others during model training.</a:t>
            </a:r>
          </a:p>
          <a:p>
            <a:pPr marL="647700" lvl="1" indent="-323850" algn="just">
              <a:lnSpc>
                <a:spcPts val="4200"/>
              </a:lnSpc>
              <a:buFont typeface="Arial"/>
              <a:buChar char="•"/>
            </a:pPr>
            <a:r>
              <a:rPr lang="en-US" sz="3000">
                <a:solidFill>
                  <a:srgbClr val="000000"/>
                </a:solidFill>
                <a:latin typeface="Arial"/>
                <a:ea typeface="Arial"/>
                <a:cs typeface="Arial"/>
                <a:sym typeface="Arial"/>
              </a:rPr>
              <a:t>Splitted data into 20% for testing and 80% for training to perform model evaluation.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4" name="TextBox 4"/>
          <p:cNvSpPr txBox="1"/>
          <p:nvPr/>
        </p:nvSpPr>
        <p:spPr>
          <a:xfrm>
            <a:off x="4703180" y="365125"/>
            <a:ext cx="8881640"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MODEL  EVALUATION</a:t>
            </a:r>
          </a:p>
        </p:txBody>
      </p:sp>
      <p:sp>
        <p:nvSpPr>
          <p:cNvPr id="5" name="TextBox 5"/>
          <p:cNvSpPr txBox="1"/>
          <p:nvPr/>
        </p:nvSpPr>
        <p:spPr>
          <a:xfrm>
            <a:off x="2062791" y="1845415"/>
            <a:ext cx="14162417" cy="1066843"/>
          </a:xfrm>
          <a:prstGeom prst="rect">
            <a:avLst/>
          </a:prstGeom>
        </p:spPr>
        <p:txBody>
          <a:bodyPr lIns="0" tIns="0" rIns="0" bIns="0" rtlCol="0" anchor="t">
            <a:spAutoFit/>
          </a:bodyPr>
          <a:lstStyle/>
          <a:p>
            <a:pPr algn="just">
              <a:lnSpc>
                <a:spcPts val="4200"/>
              </a:lnSpc>
            </a:pPr>
            <a:r>
              <a:rPr lang="en-US" sz="3000">
                <a:solidFill>
                  <a:srgbClr val="000000"/>
                </a:solidFill>
                <a:latin typeface="Arial"/>
                <a:ea typeface="Arial"/>
                <a:cs typeface="Arial"/>
                <a:sym typeface="Arial"/>
              </a:rPr>
              <a:t>Performed supervised machine learning classification models to predict whether a customer will churn.</a:t>
            </a:r>
          </a:p>
        </p:txBody>
      </p:sp>
      <p:sp>
        <p:nvSpPr>
          <p:cNvPr id="6" name="TextBox 6"/>
          <p:cNvSpPr txBox="1"/>
          <p:nvPr/>
        </p:nvSpPr>
        <p:spPr>
          <a:xfrm>
            <a:off x="6632023" y="3017773"/>
            <a:ext cx="5023953" cy="3822829"/>
          </a:xfrm>
          <a:prstGeom prst="rect">
            <a:avLst/>
          </a:prstGeom>
        </p:spPr>
        <p:txBody>
          <a:bodyPr lIns="0" tIns="0" rIns="0" bIns="0" rtlCol="0" anchor="t">
            <a:spAutoFit/>
          </a:bodyPr>
          <a:lstStyle/>
          <a:p>
            <a:pPr algn="just">
              <a:lnSpc>
                <a:spcPts val="4899"/>
              </a:lnSpc>
            </a:pPr>
            <a:r>
              <a:rPr lang="en-US" sz="3499" b="1">
                <a:solidFill>
                  <a:srgbClr val="000000"/>
                </a:solidFill>
                <a:latin typeface="Arial Bold"/>
                <a:ea typeface="Arial Bold"/>
                <a:cs typeface="Arial Bold"/>
                <a:sym typeface="Arial Bold"/>
              </a:rPr>
              <a:t>Models Performed :</a:t>
            </a:r>
          </a:p>
          <a:p>
            <a:pPr marL="647700" lvl="1" indent="-323850" algn="just">
              <a:lnSpc>
                <a:spcPts val="4200"/>
              </a:lnSpc>
              <a:buFont typeface="Arial"/>
              <a:buChar char="•"/>
            </a:pPr>
            <a:r>
              <a:rPr lang="en-US" sz="3000">
                <a:solidFill>
                  <a:srgbClr val="000000"/>
                </a:solidFill>
                <a:latin typeface="Arial"/>
                <a:ea typeface="Arial"/>
                <a:cs typeface="Arial"/>
                <a:sym typeface="Arial"/>
              </a:rPr>
              <a:t>Logistic Regression</a:t>
            </a:r>
          </a:p>
          <a:p>
            <a:pPr marL="647700" lvl="1" indent="-323850" algn="just">
              <a:lnSpc>
                <a:spcPts val="4200"/>
              </a:lnSpc>
              <a:buFont typeface="Arial"/>
              <a:buChar char="•"/>
            </a:pPr>
            <a:r>
              <a:rPr lang="en-US" sz="3000">
                <a:solidFill>
                  <a:srgbClr val="000000"/>
                </a:solidFill>
                <a:latin typeface="Arial"/>
                <a:ea typeface="Arial"/>
                <a:cs typeface="Arial"/>
                <a:sym typeface="Arial"/>
              </a:rPr>
              <a:t>Support Vector Machine</a:t>
            </a:r>
          </a:p>
          <a:p>
            <a:pPr marL="647700" lvl="1" indent="-323850" algn="just">
              <a:lnSpc>
                <a:spcPts val="4200"/>
              </a:lnSpc>
              <a:buFont typeface="Arial"/>
              <a:buChar char="•"/>
            </a:pPr>
            <a:r>
              <a:rPr lang="en-US" sz="3000">
                <a:solidFill>
                  <a:srgbClr val="000000"/>
                </a:solidFill>
                <a:latin typeface="Arial"/>
                <a:ea typeface="Arial"/>
                <a:cs typeface="Arial"/>
                <a:sym typeface="Arial"/>
              </a:rPr>
              <a:t>K-Nearest Neighbor</a:t>
            </a:r>
          </a:p>
          <a:p>
            <a:pPr marL="647700" lvl="1" indent="-323850" algn="just">
              <a:lnSpc>
                <a:spcPts val="4200"/>
              </a:lnSpc>
              <a:buFont typeface="Arial"/>
              <a:buChar char="•"/>
            </a:pPr>
            <a:r>
              <a:rPr lang="en-US" sz="3000">
                <a:solidFill>
                  <a:srgbClr val="000000"/>
                </a:solidFill>
                <a:latin typeface="Arial"/>
                <a:ea typeface="Arial"/>
                <a:cs typeface="Arial"/>
                <a:sym typeface="Arial"/>
              </a:rPr>
              <a:t>Decision Tree </a:t>
            </a:r>
          </a:p>
          <a:p>
            <a:pPr marL="647700" lvl="1" indent="-323850" algn="just">
              <a:lnSpc>
                <a:spcPts val="4200"/>
              </a:lnSpc>
              <a:buFont typeface="Arial"/>
              <a:buChar char="•"/>
            </a:pPr>
            <a:r>
              <a:rPr lang="en-US" sz="3000">
                <a:solidFill>
                  <a:srgbClr val="000000"/>
                </a:solidFill>
                <a:latin typeface="Arial"/>
                <a:ea typeface="Arial"/>
                <a:cs typeface="Arial"/>
                <a:sym typeface="Arial"/>
              </a:rPr>
              <a:t>Random Forest </a:t>
            </a:r>
          </a:p>
          <a:p>
            <a:pPr marL="647700" lvl="1" indent="-323850" algn="just">
              <a:lnSpc>
                <a:spcPts val="4200"/>
              </a:lnSpc>
              <a:buFont typeface="Arial"/>
              <a:buChar char="•"/>
            </a:pPr>
            <a:r>
              <a:rPr lang="en-US" sz="3000">
                <a:solidFill>
                  <a:srgbClr val="000000"/>
                </a:solidFill>
                <a:latin typeface="Arial"/>
                <a:ea typeface="Arial"/>
                <a:cs typeface="Arial"/>
                <a:sym typeface="Arial"/>
              </a:rPr>
              <a:t>XG Boost</a:t>
            </a:r>
          </a:p>
        </p:txBody>
      </p:sp>
      <p:sp>
        <p:nvSpPr>
          <p:cNvPr id="7" name="TextBox 7"/>
          <p:cNvSpPr txBox="1"/>
          <p:nvPr/>
        </p:nvSpPr>
        <p:spPr>
          <a:xfrm>
            <a:off x="6632023" y="7116827"/>
            <a:ext cx="5023953" cy="2755986"/>
          </a:xfrm>
          <a:prstGeom prst="rect">
            <a:avLst/>
          </a:prstGeom>
        </p:spPr>
        <p:txBody>
          <a:bodyPr lIns="0" tIns="0" rIns="0" bIns="0" rtlCol="0" anchor="t">
            <a:spAutoFit/>
          </a:bodyPr>
          <a:lstStyle/>
          <a:p>
            <a:pPr algn="just">
              <a:lnSpc>
                <a:spcPts val="4899"/>
              </a:lnSpc>
            </a:pPr>
            <a:r>
              <a:rPr lang="en-US" sz="3499" b="1">
                <a:solidFill>
                  <a:srgbClr val="000000"/>
                </a:solidFill>
                <a:latin typeface="Arial Bold"/>
                <a:ea typeface="Arial Bold"/>
                <a:cs typeface="Arial Bold"/>
                <a:sym typeface="Arial Bold"/>
              </a:rPr>
              <a:t>Evaluation Metrics :</a:t>
            </a:r>
          </a:p>
          <a:p>
            <a:pPr marL="647700" lvl="1" indent="-323850" algn="just">
              <a:lnSpc>
                <a:spcPts val="4200"/>
              </a:lnSpc>
              <a:buFont typeface="Arial"/>
              <a:buChar char="•"/>
            </a:pPr>
            <a:r>
              <a:rPr lang="en-US" sz="3000">
                <a:solidFill>
                  <a:srgbClr val="000000"/>
                </a:solidFill>
                <a:latin typeface="Arial"/>
                <a:ea typeface="Arial"/>
                <a:cs typeface="Arial"/>
                <a:sym typeface="Arial"/>
              </a:rPr>
              <a:t>Accuracy Score</a:t>
            </a:r>
          </a:p>
          <a:p>
            <a:pPr marL="647700" lvl="1" indent="-323850" algn="just">
              <a:lnSpc>
                <a:spcPts val="4200"/>
              </a:lnSpc>
              <a:buFont typeface="Arial"/>
              <a:buChar char="•"/>
            </a:pPr>
            <a:r>
              <a:rPr lang="en-US" sz="3000">
                <a:solidFill>
                  <a:srgbClr val="000000"/>
                </a:solidFill>
                <a:latin typeface="Arial"/>
                <a:ea typeface="Arial"/>
                <a:cs typeface="Arial"/>
                <a:sym typeface="Arial"/>
              </a:rPr>
              <a:t>Classification Report</a:t>
            </a:r>
          </a:p>
          <a:p>
            <a:pPr marL="647700" lvl="1" indent="-323850" algn="just">
              <a:lnSpc>
                <a:spcPts val="4200"/>
              </a:lnSpc>
              <a:buFont typeface="Arial"/>
              <a:buChar char="•"/>
            </a:pPr>
            <a:r>
              <a:rPr lang="en-US" sz="3000">
                <a:solidFill>
                  <a:srgbClr val="000000"/>
                </a:solidFill>
                <a:latin typeface="Arial"/>
                <a:ea typeface="Arial"/>
                <a:cs typeface="Arial"/>
                <a:sym typeface="Arial"/>
              </a:rPr>
              <a:t>Confusion Matrix</a:t>
            </a:r>
          </a:p>
          <a:p>
            <a:pPr marL="647700" lvl="1" indent="-323850" algn="just">
              <a:lnSpc>
                <a:spcPts val="4200"/>
              </a:lnSpc>
              <a:buFont typeface="Arial"/>
              <a:buChar char="•"/>
            </a:pPr>
            <a:r>
              <a:rPr lang="en-US" sz="3000">
                <a:solidFill>
                  <a:srgbClr val="000000"/>
                </a:solidFill>
                <a:latin typeface="Arial"/>
                <a:ea typeface="Arial"/>
                <a:cs typeface="Arial"/>
                <a:sym typeface="Arial"/>
              </a:rPr>
              <a:t>f1 Score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5" name="TextBox 5"/>
          <p:cNvSpPr txBox="1"/>
          <p:nvPr/>
        </p:nvSpPr>
        <p:spPr>
          <a:xfrm>
            <a:off x="4703180" y="365125"/>
            <a:ext cx="8881640"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LOGISTIC  REGRESSION</a:t>
            </a:r>
          </a:p>
        </p:txBody>
      </p:sp>
      <p:sp>
        <p:nvSpPr>
          <p:cNvPr id="6" name="TextBox 6"/>
          <p:cNvSpPr txBox="1"/>
          <p:nvPr/>
        </p:nvSpPr>
        <p:spPr>
          <a:xfrm>
            <a:off x="2062791" y="2087171"/>
            <a:ext cx="14162417" cy="1600264"/>
          </a:xfrm>
          <a:prstGeom prst="rect">
            <a:avLst/>
          </a:prstGeom>
        </p:spPr>
        <p:txBody>
          <a:bodyPr lIns="0" tIns="0" rIns="0" bIns="0" rtlCol="0" anchor="t">
            <a:spAutoFit/>
          </a:bodyPr>
          <a:lstStyle/>
          <a:p>
            <a:pPr marL="647700" lvl="1" indent="-323850" algn="just">
              <a:lnSpc>
                <a:spcPts val="4200"/>
              </a:lnSpc>
              <a:buFont typeface="Arial"/>
              <a:buChar char="•"/>
            </a:pPr>
            <a:r>
              <a:rPr lang="en-US" sz="3000" dirty="0">
                <a:solidFill>
                  <a:srgbClr val="000000"/>
                </a:solidFill>
                <a:latin typeface="Arial"/>
                <a:ea typeface="Arial"/>
                <a:cs typeface="Arial"/>
                <a:sym typeface="Arial"/>
              </a:rPr>
              <a:t>Estimates the probability of customer churn by establishing a decision boundary between churned and retained customers.</a:t>
            </a:r>
          </a:p>
          <a:p>
            <a:pPr marL="647700" lvl="1" indent="-323850" algn="just">
              <a:lnSpc>
                <a:spcPts val="4200"/>
              </a:lnSpc>
              <a:buFont typeface="Arial"/>
              <a:buChar char="•"/>
            </a:pPr>
            <a:r>
              <a:rPr lang="en-US" sz="3000" dirty="0">
                <a:solidFill>
                  <a:srgbClr val="000000"/>
                </a:solidFill>
                <a:latin typeface="Arial"/>
                <a:ea typeface="Arial"/>
                <a:cs typeface="Arial"/>
                <a:sym typeface="Arial"/>
              </a:rPr>
              <a:t>The accuracy score obtained is 0.7473.</a:t>
            </a:r>
          </a:p>
        </p:txBody>
      </p:sp>
      <p:pic>
        <p:nvPicPr>
          <p:cNvPr id="8" name="Picture 7">
            <a:extLst>
              <a:ext uri="{FF2B5EF4-FFF2-40B4-BE49-F238E27FC236}">
                <a16:creationId xmlns:a16="http://schemas.microsoft.com/office/drawing/2014/main" id="{C5F9D745-038A-C4BA-BA5D-5C7CD892C77F}"/>
              </a:ext>
            </a:extLst>
          </p:cNvPr>
          <p:cNvPicPr>
            <a:picLocks noChangeAspect="1"/>
          </p:cNvPicPr>
          <p:nvPr/>
        </p:nvPicPr>
        <p:blipFill>
          <a:blip r:embed="rId2"/>
          <a:stretch>
            <a:fillRect/>
          </a:stretch>
        </p:blipFill>
        <p:spPr>
          <a:xfrm>
            <a:off x="2362200" y="3924300"/>
            <a:ext cx="14724046" cy="5486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5" name="TextBox 5"/>
          <p:cNvSpPr txBox="1"/>
          <p:nvPr/>
        </p:nvSpPr>
        <p:spPr>
          <a:xfrm>
            <a:off x="3576509" y="365125"/>
            <a:ext cx="11134983"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SUPPORT  VECTOR  MACHINE</a:t>
            </a:r>
          </a:p>
        </p:txBody>
      </p:sp>
      <p:sp>
        <p:nvSpPr>
          <p:cNvPr id="6" name="TextBox 6"/>
          <p:cNvSpPr txBox="1"/>
          <p:nvPr/>
        </p:nvSpPr>
        <p:spPr>
          <a:xfrm>
            <a:off x="2062791" y="1801681"/>
            <a:ext cx="14162417" cy="1600264"/>
          </a:xfrm>
          <a:prstGeom prst="rect">
            <a:avLst/>
          </a:prstGeom>
        </p:spPr>
        <p:txBody>
          <a:bodyPr lIns="0" tIns="0" rIns="0" bIns="0" rtlCol="0" anchor="t">
            <a:spAutoFit/>
          </a:bodyPr>
          <a:lstStyle/>
          <a:p>
            <a:pPr marL="647700" lvl="1" indent="-323850" algn="just">
              <a:lnSpc>
                <a:spcPts val="4200"/>
              </a:lnSpc>
              <a:buFont typeface="Arial"/>
              <a:buChar char="•"/>
            </a:pPr>
            <a:r>
              <a:rPr lang="en-US" sz="3000" dirty="0">
                <a:solidFill>
                  <a:srgbClr val="000000"/>
                </a:solidFill>
                <a:latin typeface="Arial"/>
                <a:ea typeface="Arial"/>
                <a:cs typeface="Arial"/>
                <a:sym typeface="Arial"/>
              </a:rPr>
              <a:t>Identifies the optimal boundary to distinguish churned customers from non-churned ones for accurate classification.</a:t>
            </a:r>
          </a:p>
          <a:p>
            <a:pPr marL="647700" lvl="1" indent="-323850" algn="just">
              <a:lnSpc>
                <a:spcPts val="4200"/>
              </a:lnSpc>
              <a:buFont typeface="Arial"/>
              <a:buChar char="•"/>
            </a:pPr>
            <a:r>
              <a:rPr lang="en-US" sz="3000" dirty="0">
                <a:solidFill>
                  <a:srgbClr val="000000"/>
                </a:solidFill>
                <a:latin typeface="Arial"/>
                <a:ea typeface="Arial"/>
                <a:cs typeface="Arial"/>
                <a:sym typeface="Arial"/>
              </a:rPr>
              <a:t>The accuracy score is approximately 0.7509</a:t>
            </a:r>
          </a:p>
        </p:txBody>
      </p:sp>
      <p:pic>
        <p:nvPicPr>
          <p:cNvPr id="8" name="Picture 7">
            <a:extLst>
              <a:ext uri="{FF2B5EF4-FFF2-40B4-BE49-F238E27FC236}">
                <a16:creationId xmlns:a16="http://schemas.microsoft.com/office/drawing/2014/main" id="{BB2F0356-9218-C31A-9A87-6BF92CD2662B}"/>
              </a:ext>
            </a:extLst>
          </p:cNvPr>
          <p:cNvPicPr>
            <a:picLocks noChangeAspect="1"/>
          </p:cNvPicPr>
          <p:nvPr/>
        </p:nvPicPr>
        <p:blipFill>
          <a:blip r:embed="rId2"/>
          <a:stretch>
            <a:fillRect/>
          </a:stretch>
        </p:blipFill>
        <p:spPr>
          <a:xfrm>
            <a:off x="2362200" y="3644701"/>
            <a:ext cx="13716000" cy="629987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6" name="TextBox 6"/>
          <p:cNvSpPr txBox="1"/>
          <p:nvPr/>
        </p:nvSpPr>
        <p:spPr>
          <a:xfrm>
            <a:off x="4852949" y="365125"/>
            <a:ext cx="8930625"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K- NEAREST  NEIGHBOR</a:t>
            </a:r>
          </a:p>
        </p:txBody>
      </p:sp>
      <p:sp>
        <p:nvSpPr>
          <p:cNvPr id="7" name="TextBox 7"/>
          <p:cNvSpPr txBox="1"/>
          <p:nvPr/>
        </p:nvSpPr>
        <p:spPr>
          <a:xfrm>
            <a:off x="1719891" y="1784948"/>
            <a:ext cx="14848217" cy="1600264"/>
          </a:xfrm>
          <a:prstGeom prst="rect">
            <a:avLst/>
          </a:prstGeom>
        </p:spPr>
        <p:txBody>
          <a:bodyPr lIns="0" tIns="0" rIns="0" bIns="0" rtlCol="0" anchor="t">
            <a:spAutoFit/>
          </a:bodyPr>
          <a:lstStyle/>
          <a:p>
            <a:pPr marL="647700" lvl="1" indent="-323850" algn="just">
              <a:lnSpc>
                <a:spcPts val="4200"/>
              </a:lnSpc>
              <a:buFont typeface="Arial"/>
              <a:buChar char="•"/>
            </a:pPr>
            <a:r>
              <a:rPr lang="en-US" sz="3000" dirty="0">
                <a:solidFill>
                  <a:srgbClr val="000000"/>
                </a:solidFill>
                <a:latin typeface="Arial"/>
                <a:ea typeface="Arial"/>
                <a:cs typeface="Arial"/>
                <a:sym typeface="Arial"/>
              </a:rPr>
              <a:t>Predicts churn by evaluating the behavior of the most similar customers within the dataset.</a:t>
            </a:r>
          </a:p>
          <a:p>
            <a:pPr marL="647700" lvl="1" indent="-323850" algn="just">
              <a:lnSpc>
                <a:spcPts val="4200"/>
              </a:lnSpc>
              <a:buFont typeface="Arial"/>
              <a:buChar char="•"/>
            </a:pPr>
            <a:r>
              <a:rPr lang="en-US" sz="3000" dirty="0">
                <a:solidFill>
                  <a:srgbClr val="000000"/>
                </a:solidFill>
                <a:latin typeface="Arial"/>
                <a:ea typeface="Arial"/>
                <a:cs typeface="Arial"/>
                <a:sym typeface="Arial"/>
              </a:rPr>
              <a:t>The accuracy score is 0.8055.</a:t>
            </a:r>
          </a:p>
        </p:txBody>
      </p:sp>
      <p:pic>
        <p:nvPicPr>
          <p:cNvPr id="9" name="Picture 8">
            <a:extLst>
              <a:ext uri="{FF2B5EF4-FFF2-40B4-BE49-F238E27FC236}">
                <a16:creationId xmlns:a16="http://schemas.microsoft.com/office/drawing/2014/main" id="{4B7E157A-80A5-4A15-191C-2C777B5B491D}"/>
              </a:ext>
            </a:extLst>
          </p:cNvPr>
          <p:cNvPicPr>
            <a:picLocks noChangeAspect="1"/>
          </p:cNvPicPr>
          <p:nvPr/>
        </p:nvPicPr>
        <p:blipFill>
          <a:blip r:embed="rId2"/>
          <a:stretch>
            <a:fillRect/>
          </a:stretch>
        </p:blipFill>
        <p:spPr>
          <a:xfrm>
            <a:off x="1719891" y="3924300"/>
            <a:ext cx="15829420" cy="489081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5" name="TextBox 5"/>
          <p:cNvSpPr txBox="1"/>
          <p:nvPr/>
        </p:nvSpPr>
        <p:spPr>
          <a:xfrm>
            <a:off x="6285782" y="365125"/>
            <a:ext cx="6064961"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DECISION  TREE</a:t>
            </a:r>
          </a:p>
        </p:txBody>
      </p:sp>
      <p:sp>
        <p:nvSpPr>
          <p:cNvPr id="6" name="TextBox 6"/>
          <p:cNvSpPr txBox="1"/>
          <p:nvPr/>
        </p:nvSpPr>
        <p:spPr>
          <a:xfrm>
            <a:off x="2062791" y="1801681"/>
            <a:ext cx="14162417" cy="1600264"/>
          </a:xfrm>
          <a:prstGeom prst="rect">
            <a:avLst/>
          </a:prstGeom>
        </p:spPr>
        <p:txBody>
          <a:bodyPr lIns="0" tIns="0" rIns="0" bIns="0" rtlCol="0" anchor="t">
            <a:spAutoFit/>
          </a:bodyPr>
          <a:lstStyle/>
          <a:p>
            <a:pPr marL="647700" lvl="1" indent="-323850" algn="just">
              <a:lnSpc>
                <a:spcPts val="4200"/>
              </a:lnSpc>
              <a:buFont typeface="Arial"/>
              <a:buChar char="•"/>
            </a:pPr>
            <a:r>
              <a:rPr lang="en-US" sz="3000" dirty="0">
                <a:solidFill>
                  <a:srgbClr val="000000"/>
                </a:solidFill>
                <a:latin typeface="Arial"/>
                <a:ea typeface="Arial"/>
                <a:cs typeface="Arial"/>
                <a:sym typeface="Arial"/>
              </a:rPr>
              <a:t>Utilizes a hierarchical structure of decision rules to predict customer churn based on feature conditions.</a:t>
            </a:r>
          </a:p>
          <a:p>
            <a:pPr marL="647700" lvl="1" indent="-323850" algn="just">
              <a:lnSpc>
                <a:spcPts val="4200"/>
              </a:lnSpc>
              <a:buFont typeface="Arial"/>
              <a:buChar char="•"/>
            </a:pPr>
            <a:r>
              <a:rPr lang="en-US" sz="3000" dirty="0">
                <a:solidFill>
                  <a:srgbClr val="000000"/>
                </a:solidFill>
                <a:latin typeface="Arial"/>
                <a:ea typeface="Arial"/>
                <a:cs typeface="Arial"/>
                <a:sym typeface="Arial"/>
              </a:rPr>
              <a:t>The accuracy score is approximately 0.7211.</a:t>
            </a:r>
          </a:p>
        </p:txBody>
      </p:sp>
      <p:pic>
        <p:nvPicPr>
          <p:cNvPr id="8" name="Picture 7">
            <a:extLst>
              <a:ext uri="{FF2B5EF4-FFF2-40B4-BE49-F238E27FC236}">
                <a16:creationId xmlns:a16="http://schemas.microsoft.com/office/drawing/2014/main" id="{30CB69A6-EF24-3134-7EB7-7453EFFD46DF}"/>
              </a:ext>
            </a:extLst>
          </p:cNvPr>
          <p:cNvPicPr>
            <a:picLocks noChangeAspect="1"/>
          </p:cNvPicPr>
          <p:nvPr/>
        </p:nvPicPr>
        <p:blipFill>
          <a:blip r:embed="rId2"/>
          <a:stretch>
            <a:fillRect/>
          </a:stretch>
        </p:blipFill>
        <p:spPr>
          <a:xfrm>
            <a:off x="2062791" y="3644701"/>
            <a:ext cx="15158409" cy="51563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5" name="TextBox 5"/>
          <p:cNvSpPr txBox="1"/>
          <p:nvPr/>
        </p:nvSpPr>
        <p:spPr>
          <a:xfrm>
            <a:off x="5572677" y="365125"/>
            <a:ext cx="7142647"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RANDOM  FOREST</a:t>
            </a:r>
          </a:p>
        </p:txBody>
      </p:sp>
      <p:sp>
        <p:nvSpPr>
          <p:cNvPr id="6" name="TextBox 6"/>
          <p:cNvSpPr txBox="1"/>
          <p:nvPr/>
        </p:nvSpPr>
        <p:spPr>
          <a:xfrm>
            <a:off x="2062791" y="1870673"/>
            <a:ext cx="14162417" cy="1600264"/>
          </a:xfrm>
          <a:prstGeom prst="rect">
            <a:avLst/>
          </a:prstGeom>
        </p:spPr>
        <p:txBody>
          <a:bodyPr lIns="0" tIns="0" rIns="0" bIns="0" rtlCol="0" anchor="t">
            <a:spAutoFit/>
          </a:bodyPr>
          <a:lstStyle/>
          <a:p>
            <a:pPr marL="647700" lvl="1" indent="-323850" algn="just">
              <a:lnSpc>
                <a:spcPts val="4200"/>
              </a:lnSpc>
              <a:buFont typeface="Arial"/>
              <a:buChar char="•"/>
            </a:pPr>
            <a:r>
              <a:rPr lang="en-US" sz="3000" dirty="0">
                <a:solidFill>
                  <a:srgbClr val="000000"/>
                </a:solidFill>
                <a:latin typeface="Arial"/>
                <a:ea typeface="Arial"/>
                <a:cs typeface="Arial"/>
                <a:sym typeface="Arial"/>
              </a:rPr>
              <a:t>Aggregates predictions from multiple decision trees to enhance accuracy in churn prediction.</a:t>
            </a:r>
          </a:p>
          <a:p>
            <a:pPr marL="647700" lvl="1" indent="-323850" algn="just">
              <a:lnSpc>
                <a:spcPts val="4200"/>
              </a:lnSpc>
              <a:buFont typeface="Arial"/>
              <a:buChar char="•"/>
            </a:pPr>
            <a:r>
              <a:rPr lang="en-US" sz="3000" dirty="0">
                <a:solidFill>
                  <a:srgbClr val="000000"/>
                </a:solidFill>
                <a:latin typeface="Arial"/>
                <a:ea typeface="Arial"/>
                <a:cs typeface="Arial"/>
                <a:sym typeface="Arial"/>
              </a:rPr>
              <a:t>The accuracy score obtained is 0.7892.</a:t>
            </a:r>
          </a:p>
        </p:txBody>
      </p:sp>
      <p:pic>
        <p:nvPicPr>
          <p:cNvPr id="8" name="Picture 7">
            <a:extLst>
              <a:ext uri="{FF2B5EF4-FFF2-40B4-BE49-F238E27FC236}">
                <a16:creationId xmlns:a16="http://schemas.microsoft.com/office/drawing/2014/main" id="{8CAA9700-6D73-DEE1-DF50-D86F7A516817}"/>
              </a:ext>
            </a:extLst>
          </p:cNvPr>
          <p:cNvPicPr>
            <a:picLocks noChangeAspect="1"/>
          </p:cNvPicPr>
          <p:nvPr/>
        </p:nvPicPr>
        <p:blipFill>
          <a:blip r:embed="rId2"/>
          <a:stretch>
            <a:fillRect/>
          </a:stretch>
        </p:blipFill>
        <p:spPr>
          <a:xfrm>
            <a:off x="2286000" y="3747898"/>
            <a:ext cx="14558010" cy="479676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5" name="TextBox 5"/>
          <p:cNvSpPr txBox="1"/>
          <p:nvPr/>
        </p:nvSpPr>
        <p:spPr>
          <a:xfrm>
            <a:off x="7054495" y="365125"/>
            <a:ext cx="4179011"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XG  BOOST</a:t>
            </a:r>
          </a:p>
        </p:txBody>
      </p:sp>
      <p:sp>
        <p:nvSpPr>
          <p:cNvPr id="6" name="TextBox 6"/>
          <p:cNvSpPr txBox="1"/>
          <p:nvPr/>
        </p:nvSpPr>
        <p:spPr>
          <a:xfrm>
            <a:off x="2062791" y="1833065"/>
            <a:ext cx="14162417" cy="1600264"/>
          </a:xfrm>
          <a:prstGeom prst="rect">
            <a:avLst/>
          </a:prstGeom>
        </p:spPr>
        <p:txBody>
          <a:bodyPr lIns="0" tIns="0" rIns="0" bIns="0" rtlCol="0" anchor="t">
            <a:spAutoFit/>
          </a:bodyPr>
          <a:lstStyle/>
          <a:p>
            <a:pPr marL="647700" lvl="1" indent="-323850" algn="just">
              <a:lnSpc>
                <a:spcPts val="4200"/>
              </a:lnSpc>
              <a:buFont typeface="Arial"/>
              <a:buChar char="•"/>
            </a:pPr>
            <a:r>
              <a:rPr lang="en-US" sz="3000" dirty="0">
                <a:solidFill>
                  <a:srgbClr val="000000"/>
                </a:solidFill>
                <a:latin typeface="Arial"/>
                <a:ea typeface="Arial"/>
                <a:cs typeface="Arial"/>
                <a:sym typeface="Arial"/>
              </a:rPr>
              <a:t>Sequentially constructs decision trees that correct previous errors to achieve high-precision churn predictions.</a:t>
            </a:r>
          </a:p>
          <a:p>
            <a:pPr marL="647700" lvl="1" indent="-323850" algn="just">
              <a:lnSpc>
                <a:spcPts val="4200"/>
              </a:lnSpc>
              <a:buFont typeface="Arial"/>
              <a:buChar char="•"/>
            </a:pPr>
            <a:r>
              <a:rPr lang="en-US" sz="3000" dirty="0">
                <a:solidFill>
                  <a:srgbClr val="000000"/>
                </a:solidFill>
                <a:latin typeface="Arial"/>
                <a:ea typeface="Arial"/>
                <a:cs typeface="Arial"/>
                <a:sym typeface="Arial"/>
              </a:rPr>
              <a:t>The accuracy score is 0.7892.</a:t>
            </a:r>
          </a:p>
        </p:txBody>
      </p:sp>
      <p:pic>
        <p:nvPicPr>
          <p:cNvPr id="8" name="Picture 7">
            <a:extLst>
              <a:ext uri="{FF2B5EF4-FFF2-40B4-BE49-F238E27FC236}">
                <a16:creationId xmlns:a16="http://schemas.microsoft.com/office/drawing/2014/main" id="{0B5C7064-DD31-0FB4-61E7-EFC5E51A722A}"/>
              </a:ext>
            </a:extLst>
          </p:cNvPr>
          <p:cNvPicPr>
            <a:picLocks noChangeAspect="1"/>
          </p:cNvPicPr>
          <p:nvPr/>
        </p:nvPicPr>
        <p:blipFill>
          <a:blip r:embed="rId2"/>
          <a:stretch>
            <a:fillRect/>
          </a:stretch>
        </p:blipFill>
        <p:spPr>
          <a:xfrm>
            <a:off x="2209800" y="3433329"/>
            <a:ext cx="15163800" cy="635837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6" name="TextBox 6"/>
          <p:cNvSpPr txBox="1"/>
          <p:nvPr/>
        </p:nvSpPr>
        <p:spPr>
          <a:xfrm>
            <a:off x="4886037" y="365125"/>
            <a:ext cx="8515926"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MODEL  COMPARISON</a:t>
            </a:r>
          </a:p>
        </p:txBody>
      </p:sp>
      <p:sp>
        <p:nvSpPr>
          <p:cNvPr id="7" name="TextBox 7"/>
          <p:cNvSpPr txBox="1"/>
          <p:nvPr/>
        </p:nvSpPr>
        <p:spPr>
          <a:xfrm>
            <a:off x="1523948" y="2287628"/>
            <a:ext cx="15240103" cy="1066843"/>
          </a:xfrm>
          <a:prstGeom prst="rect">
            <a:avLst/>
          </a:prstGeom>
        </p:spPr>
        <p:txBody>
          <a:bodyPr lIns="0" tIns="0" rIns="0" bIns="0" rtlCol="0" anchor="t">
            <a:spAutoFit/>
          </a:bodyPr>
          <a:lstStyle/>
          <a:p>
            <a:pPr marL="647700" lvl="1" indent="-323850" algn="just">
              <a:lnSpc>
                <a:spcPts val="4200"/>
              </a:lnSpc>
              <a:buFont typeface="Arial"/>
              <a:buChar char="•"/>
            </a:pPr>
            <a:r>
              <a:rPr lang="en-US" sz="3000" dirty="0">
                <a:solidFill>
                  <a:srgbClr val="000000"/>
                </a:solidFill>
                <a:latin typeface="Arial"/>
                <a:ea typeface="Arial"/>
                <a:cs typeface="Arial"/>
                <a:sym typeface="Arial"/>
              </a:rPr>
              <a:t>Compared accuracy score of all six models and plotted for visualization of comparison.</a:t>
            </a:r>
          </a:p>
          <a:p>
            <a:pPr marL="647700" lvl="1" indent="-323850" algn="just">
              <a:lnSpc>
                <a:spcPts val="4200"/>
              </a:lnSpc>
              <a:buFont typeface="Arial"/>
              <a:buChar char="•"/>
            </a:pPr>
            <a:r>
              <a:rPr lang="en-US" sz="3000" dirty="0">
                <a:solidFill>
                  <a:srgbClr val="000000"/>
                </a:solidFill>
                <a:latin typeface="Arial"/>
                <a:ea typeface="Arial"/>
                <a:cs typeface="Arial"/>
                <a:sym typeface="Arial"/>
              </a:rPr>
              <a:t>The best accuracy score obtained in</a:t>
            </a:r>
            <a:r>
              <a:rPr lang="en-US" sz="3000" b="1" dirty="0">
                <a:solidFill>
                  <a:srgbClr val="000000"/>
                </a:solidFill>
                <a:latin typeface="Arial Bold"/>
                <a:ea typeface="Arial Bold"/>
                <a:cs typeface="Arial Bold"/>
                <a:sym typeface="Arial Bold"/>
              </a:rPr>
              <a:t> XGBOOST &amp; RANDOM FOREST </a:t>
            </a:r>
            <a:r>
              <a:rPr lang="en-US" sz="3000" dirty="0">
                <a:solidFill>
                  <a:srgbClr val="000000"/>
                </a:solidFill>
                <a:latin typeface="Arial"/>
                <a:ea typeface="Arial"/>
                <a:cs typeface="Arial"/>
                <a:sym typeface="Arial"/>
              </a:rPr>
              <a:t>model.</a:t>
            </a:r>
          </a:p>
        </p:txBody>
      </p:sp>
      <p:pic>
        <p:nvPicPr>
          <p:cNvPr id="9" name="Picture 8">
            <a:extLst>
              <a:ext uri="{FF2B5EF4-FFF2-40B4-BE49-F238E27FC236}">
                <a16:creationId xmlns:a16="http://schemas.microsoft.com/office/drawing/2014/main" id="{AD592754-2744-B6BB-FD6F-936A6B2D2213}"/>
              </a:ext>
            </a:extLst>
          </p:cNvPr>
          <p:cNvPicPr>
            <a:picLocks noChangeAspect="1"/>
          </p:cNvPicPr>
          <p:nvPr/>
        </p:nvPicPr>
        <p:blipFill>
          <a:blip r:embed="rId2"/>
          <a:stretch>
            <a:fillRect/>
          </a:stretch>
        </p:blipFill>
        <p:spPr>
          <a:xfrm>
            <a:off x="1802296" y="3924300"/>
            <a:ext cx="14935251" cy="438929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5" name="TextBox 5"/>
          <p:cNvSpPr txBox="1"/>
          <p:nvPr/>
        </p:nvSpPr>
        <p:spPr>
          <a:xfrm>
            <a:off x="3710380" y="365125"/>
            <a:ext cx="10867240"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HYPER  PARAMETER  TUNING</a:t>
            </a:r>
          </a:p>
        </p:txBody>
      </p:sp>
      <p:sp>
        <p:nvSpPr>
          <p:cNvPr id="6" name="TextBox 6"/>
          <p:cNvSpPr txBox="1"/>
          <p:nvPr/>
        </p:nvSpPr>
        <p:spPr>
          <a:xfrm>
            <a:off x="1805616" y="1754945"/>
            <a:ext cx="14676767" cy="1030090"/>
          </a:xfrm>
          <a:prstGeom prst="rect">
            <a:avLst/>
          </a:prstGeom>
        </p:spPr>
        <p:txBody>
          <a:bodyPr lIns="0" tIns="0" rIns="0" bIns="0" rtlCol="0" anchor="t">
            <a:spAutoFit/>
          </a:bodyPr>
          <a:lstStyle/>
          <a:p>
            <a:pPr marL="647700" lvl="1" indent="-323850" algn="just">
              <a:lnSpc>
                <a:spcPts val="4200"/>
              </a:lnSpc>
              <a:buFont typeface="Arial"/>
              <a:buChar char="•"/>
            </a:pPr>
            <a:r>
              <a:rPr lang="en-US" sz="3000" dirty="0">
                <a:solidFill>
                  <a:srgbClr val="000000"/>
                </a:solidFill>
                <a:latin typeface="Arial"/>
                <a:ea typeface="Arial"/>
                <a:cs typeface="Arial"/>
                <a:sym typeface="Arial"/>
              </a:rPr>
              <a:t>Hyperparameter tuning is used to optimize model settings to improve customer churn prediction accuracy.</a:t>
            </a:r>
          </a:p>
        </p:txBody>
      </p:sp>
      <p:pic>
        <p:nvPicPr>
          <p:cNvPr id="8" name="Picture 7">
            <a:extLst>
              <a:ext uri="{FF2B5EF4-FFF2-40B4-BE49-F238E27FC236}">
                <a16:creationId xmlns:a16="http://schemas.microsoft.com/office/drawing/2014/main" id="{6CF9DF7B-041B-E435-29B2-29913AAD2D5D}"/>
              </a:ext>
            </a:extLst>
          </p:cNvPr>
          <p:cNvPicPr>
            <a:picLocks noChangeAspect="1"/>
          </p:cNvPicPr>
          <p:nvPr/>
        </p:nvPicPr>
        <p:blipFill>
          <a:blip r:embed="rId2"/>
          <a:stretch>
            <a:fillRect/>
          </a:stretch>
        </p:blipFill>
        <p:spPr>
          <a:xfrm>
            <a:off x="6096000" y="3162300"/>
            <a:ext cx="6553201" cy="655164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a:extLst>
            <a:ext uri="{FF2B5EF4-FFF2-40B4-BE49-F238E27FC236}">
              <a16:creationId xmlns:a16="http://schemas.microsoft.com/office/drawing/2014/main" id="{84D1B305-8343-E3C9-DD4E-45B941B6A500}"/>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1B34F75D-C28B-0DDE-62E2-9BDC0D0A9CD2}"/>
              </a:ext>
            </a:extLst>
          </p:cNvPr>
          <p:cNvSpPr txBox="1"/>
          <p:nvPr/>
        </p:nvSpPr>
        <p:spPr>
          <a:xfrm>
            <a:off x="4886037" y="365125"/>
            <a:ext cx="8515926"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MODEL  COMPARISON</a:t>
            </a:r>
          </a:p>
        </p:txBody>
      </p:sp>
      <p:sp>
        <p:nvSpPr>
          <p:cNvPr id="7" name="TextBox 7">
            <a:extLst>
              <a:ext uri="{FF2B5EF4-FFF2-40B4-BE49-F238E27FC236}">
                <a16:creationId xmlns:a16="http://schemas.microsoft.com/office/drawing/2014/main" id="{C2F7D3A6-B536-B5B1-8EFB-7461DE81A1FA}"/>
              </a:ext>
            </a:extLst>
          </p:cNvPr>
          <p:cNvSpPr txBox="1"/>
          <p:nvPr/>
        </p:nvSpPr>
        <p:spPr>
          <a:xfrm>
            <a:off x="1523948" y="2287628"/>
            <a:ext cx="15240103" cy="1568699"/>
          </a:xfrm>
          <a:prstGeom prst="rect">
            <a:avLst/>
          </a:prstGeom>
        </p:spPr>
        <p:txBody>
          <a:bodyPr lIns="0" tIns="0" rIns="0" bIns="0" rtlCol="0" anchor="t">
            <a:spAutoFit/>
          </a:bodyPr>
          <a:lstStyle/>
          <a:p>
            <a:pPr marL="647700" lvl="1" indent="-323850" algn="just">
              <a:lnSpc>
                <a:spcPts val="4200"/>
              </a:lnSpc>
              <a:buFont typeface="Arial"/>
              <a:buChar char="•"/>
            </a:pPr>
            <a:r>
              <a:rPr lang="en-US" sz="3000" dirty="0">
                <a:solidFill>
                  <a:srgbClr val="000000"/>
                </a:solidFill>
                <a:latin typeface="Arial"/>
                <a:ea typeface="Arial"/>
                <a:cs typeface="Arial"/>
                <a:sym typeface="Arial"/>
              </a:rPr>
              <a:t>Compared accuracy score of all six models and plotted for visualization of comparison After Tuning.</a:t>
            </a:r>
          </a:p>
          <a:p>
            <a:pPr marL="647700" lvl="1" indent="-323850" algn="just">
              <a:lnSpc>
                <a:spcPts val="4200"/>
              </a:lnSpc>
              <a:buFont typeface="Arial"/>
              <a:buChar char="•"/>
            </a:pPr>
            <a:r>
              <a:rPr lang="en-US" sz="3000" dirty="0">
                <a:solidFill>
                  <a:srgbClr val="000000"/>
                </a:solidFill>
                <a:latin typeface="Arial"/>
                <a:ea typeface="Arial"/>
                <a:cs typeface="Arial"/>
                <a:sym typeface="Arial"/>
              </a:rPr>
              <a:t>The best accuracy score obtained in</a:t>
            </a:r>
            <a:r>
              <a:rPr lang="en-US" sz="3000" b="1" dirty="0">
                <a:solidFill>
                  <a:srgbClr val="000000"/>
                </a:solidFill>
                <a:latin typeface="Arial Bold"/>
                <a:ea typeface="Arial Bold"/>
                <a:cs typeface="Arial Bold"/>
                <a:sym typeface="Arial Bold"/>
              </a:rPr>
              <a:t> LOGISTIC REGRESSION </a:t>
            </a:r>
            <a:r>
              <a:rPr lang="en-US" sz="3000" dirty="0">
                <a:solidFill>
                  <a:srgbClr val="000000"/>
                </a:solidFill>
                <a:latin typeface="Arial"/>
                <a:ea typeface="Arial"/>
                <a:cs typeface="Arial"/>
                <a:sym typeface="Arial"/>
              </a:rPr>
              <a:t>model.</a:t>
            </a:r>
          </a:p>
        </p:txBody>
      </p:sp>
      <p:pic>
        <p:nvPicPr>
          <p:cNvPr id="3" name="Picture 2">
            <a:extLst>
              <a:ext uri="{FF2B5EF4-FFF2-40B4-BE49-F238E27FC236}">
                <a16:creationId xmlns:a16="http://schemas.microsoft.com/office/drawing/2014/main" id="{C36682A1-C4D0-2199-67B4-91B79304163A}"/>
              </a:ext>
            </a:extLst>
          </p:cNvPr>
          <p:cNvPicPr>
            <a:picLocks noChangeAspect="1"/>
          </p:cNvPicPr>
          <p:nvPr/>
        </p:nvPicPr>
        <p:blipFill>
          <a:blip r:embed="rId2"/>
          <a:stretch>
            <a:fillRect/>
          </a:stretch>
        </p:blipFill>
        <p:spPr>
          <a:xfrm>
            <a:off x="9448850" y="5139965"/>
            <a:ext cx="7315201" cy="2590800"/>
          </a:xfrm>
          <a:prstGeom prst="rect">
            <a:avLst/>
          </a:prstGeom>
        </p:spPr>
      </p:pic>
      <p:pic>
        <p:nvPicPr>
          <p:cNvPr id="5" name="Picture 4">
            <a:extLst>
              <a:ext uri="{FF2B5EF4-FFF2-40B4-BE49-F238E27FC236}">
                <a16:creationId xmlns:a16="http://schemas.microsoft.com/office/drawing/2014/main" id="{0CA5C76D-6C88-F44E-DDD3-5B3BE0AC0184}"/>
              </a:ext>
            </a:extLst>
          </p:cNvPr>
          <p:cNvPicPr>
            <a:picLocks noChangeAspect="1"/>
          </p:cNvPicPr>
          <p:nvPr/>
        </p:nvPicPr>
        <p:blipFill>
          <a:blip r:embed="rId3"/>
          <a:stretch>
            <a:fillRect/>
          </a:stretch>
        </p:blipFill>
        <p:spPr>
          <a:xfrm>
            <a:off x="1789042" y="4585030"/>
            <a:ext cx="7315200" cy="4581885"/>
          </a:xfrm>
          <a:prstGeom prst="rect">
            <a:avLst/>
          </a:prstGeom>
        </p:spPr>
      </p:pic>
    </p:spTree>
    <p:extLst>
      <p:ext uri="{BB962C8B-B14F-4D97-AF65-F5344CB8AC3E}">
        <p14:creationId xmlns:p14="http://schemas.microsoft.com/office/powerpoint/2010/main" val="1558292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6" name="TextBox 6"/>
          <p:cNvSpPr txBox="1"/>
          <p:nvPr/>
        </p:nvSpPr>
        <p:spPr>
          <a:xfrm>
            <a:off x="4653355" y="365125"/>
            <a:ext cx="8981290"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MODEL  DEPLOYMENT</a:t>
            </a:r>
          </a:p>
        </p:txBody>
      </p:sp>
      <p:sp>
        <p:nvSpPr>
          <p:cNvPr id="7" name="TextBox 7"/>
          <p:cNvSpPr txBox="1"/>
          <p:nvPr/>
        </p:nvSpPr>
        <p:spPr>
          <a:xfrm>
            <a:off x="2062791" y="1799365"/>
            <a:ext cx="14162417" cy="1568699"/>
          </a:xfrm>
          <a:prstGeom prst="rect">
            <a:avLst/>
          </a:prstGeom>
        </p:spPr>
        <p:txBody>
          <a:bodyPr lIns="0" tIns="0" rIns="0" bIns="0" rtlCol="0" anchor="t">
            <a:spAutoFit/>
          </a:bodyPr>
          <a:lstStyle/>
          <a:p>
            <a:pPr marL="647700" lvl="1" indent="-323850" algn="just">
              <a:lnSpc>
                <a:spcPts val="4200"/>
              </a:lnSpc>
              <a:buFont typeface="Arial"/>
              <a:buChar char="•"/>
            </a:pPr>
            <a:r>
              <a:rPr lang="en-US" sz="3000" dirty="0">
                <a:solidFill>
                  <a:srgbClr val="000000"/>
                </a:solidFill>
                <a:latin typeface="Arial"/>
                <a:ea typeface="Arial"/>
                <a:cs typeface="Arial"/>
                <a:sym typeface="Arial"/>
              </a:rPr>
              <a:t>After performing Hyperparameter tuning for the best model Logistic Regression saved the model, label encoder and  scaler as .</a:t>
            </a:r>
            <a:r>
              <a:rPr lang="en-US" sz="3000" dirty="0" err="1">
                <a:solidFill>
                  <a:srgbClr val="000000"/>
                </a:solidFill>
                <a:latin typeface="Arial"/>
                <a:ea typeface="Arial"/>
                <a:cs typeface="Arial"/>
                <a:sym typeface="Arial"/>
              </a:rPr>
              <a:t>pkl</a:t>
            </a:r>
            <a:r>
              <a:rPr lang="en-US" sz="3000" dirty="0">
                <a:solidFill>
                  <a:srgbClr val="000000"/>
                </a:solidFill>
                <a:latin typeface="Arial"/>
                <a:ea typeface="Arial"/>
                <a:cs typeface="Arial"/>
                <a:sym typeface="Arial"/>
              </a:rPr>
              <a:t> file using </a:t>
            </a:r>
            <a:r>
              <a:rPr lang="en-US" sz="3000" dirty="0" err="1">
                <a:solidFill>
                  <a:srgbClr val="000000"/>
                </a:solidFill>
                <a:latin typeface="Arial"/>
                <a:ea typeface="Arial"/>
                <a:cs typeface="Arial"/>
                <a:sym typeface="Arial"/>
              </a:rPr>
              <a:t>joblib</a:t>
            </a:r>
            <a:r>
              <a:rPr lang="en-US" sz="3000" dirty="0">
                <a:solidFill>
                  <a:srgbClr val="000000"/>
                </a:solidFill>
                <a:latin typeface="Arial"/>
                <a:ea typeface="Arial"/>
                <a:cs typeface="Arial"/>
                <a:sym typeface="Arial"/>
              </a:rPr>
              <a:t>.</a:t>
            </a:r>
          </a:p>
          <a:p>
            <a:pPr marL="647700" lvl="1" indent="-323850" algn="just">
              <a:lnSpc>
                <a:spcPts val="4200"/>
              </a:lnSpc>
              <a:buFont typeface="Arial"/>
              <a:buChar char="•"/>
            </a:pPr>
            <a:r>
              <a:rPr lang="en-US" sz="3000" dirty="0">
                <a:solidFill>
                  <a:srgbClr val="000000"/>
                </a:solidFill>
                <a:latin typeface="Arial"/>
                <a:ea typeface="Arial"/>
                <a:cs typeface="Arial"/>
                <a:sym typeface="Arial"/>
              </a:rPr>
              <a:t>Deployed app using </a:t>
            </a:r>
            <a:r>
              <a:rPr lang="en-US" sz="3000" b="1" dirty="0" err="1">
                <a:solidFill>
                  <a:srgbClr val="000000"/>
                </a:solidFill>
                <a:latin typeface="Arial Bold"/>
                <a:ea typeface="Arial Bold"/>
                <a:cs typeface="Arial Bold"/>
                <a:sym typeface="Arial Bold"/>
              </a:rPr>
              <a:t>Streamlit</a:t>
            </a:r>
            <a:r>
              <a:rPr lang="en-US" sz="3000" dirty="0">
                <a:solidFill>
                  <a:srgbClr val="000000"/>
                </a:solidFill>
                <a:latin typeface="Arial"/>
                <a:ea typeface="Arial"/>
                <a:cs typeface="Arial"/>
                <a:sym typeface="Arial"/>
              </a:rPr>
              <a:t> in</a:t>
            </a:r>
            <a:r>
              <a:rPr lang="en-US" sz="3000" b="1" dirty="0">
                <a:solidFill>
                  <a:srgbClr val="000000"/>
                </a:solidFill>
                <a:latin typeface="Arial Bold"/>
                <a:ea typeface="Arial Bold"/>
                <a:cs typeface="Arial Bold"/>
                <a:sym typeface="Arial Bold"/>
              </a:rPr>
              <a:t> PYCHARM.</a:t>
            </a:r>
          </a:p>
        </p:txBody>
      </p:sp>
      <p:pic>
        <p:nvPicPr>
          <p:cNvPr id="9" name="Picture 8">
            <a:extLst>
              <a:ext uri="{FF2B5EF4-FFF2-40B4-BE49-F238E27FC236}">
                <a16:creationId xmlns:a16="http://schemas.microsoft.com/office/drawing/2014/main" id="{7F6D50CA-A91D-0135-8D71-5EEEC20F83DE}"/>
              </a:ext>
            </a:extLst>
          </p:cNvPr>
          <p:cNvPicPr>
            <a:picLocks noChangeAspect="1"/>
          </p:cNvPicPr>
          <p:nvPr/>
        </p:nvPicPr>
        <p:blipFill>
          <a:blip r:embed="rId2"/>
          <a:stretch>
            <a:fillRect/>
          </a:stretch>
        </p:blipFill>
        <p:spPr>
          <a:xfrm>
            <a:off x="10484883" y="4000500"/>
            <a:ext cx="6299524" cy="5302523"/>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AA79D676-EFE0-228F-FBD9-EC563E3FBB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3943347"/>
            <a:ext cx="6451932" cy="541682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4" name="TextBox 4"/>
          <p:cNvSpPr txBox="1"/>
          <p:nvPr/>
        </p:nvSpPr>
        <p:spPr>
          <a:xfrm>
            <a:off x="6429087" y="365125"/>
            <a:ext cx="5429826" cy="1193800"/>
          </a:xfrm>
          <a:prstGeom prst="rect">
            <a:avLst/>
          </a:prstGeom>
        </p:spPr>
        <p:txBody>
          <a:bodyPr lIns="0" tIns="0" rIns="0" bIns="0" rtlCol="0" anchor="t">
            <a:spAutoFit/>
          </a:bodyPr>
          <a:lstStyle/>
          <a:p>
            <a:pPr algn="ctr">
              <a:lnSpc>
                <a:spcPts val="9799"/>
              </a:lnSpc>
              <a:spcBef>
                <a:spcPct val="0"/>
              </a:spcBef>
            </a:pPr>
            <a:r>
              <a:rPr lang="en-US" sz="6999">
                <a:solidFill>
                  <a:srgbClr val="424242"/>
                </a:solidFill>
                <a:latin typeface="Maragsa"/>
                <a:ea typeface="Maragsa"/>
                <a:cs typeface="Maragsa"/>
                <a:sym typeface="Maragsa"/>
              </a:rPr>
              <a:t>CONCLUSION</a:t>
            </a:r>
          </a:p>
        </p:txBody>
      </p:sp>
      <p:sp>
        <p:nvSpPr>
          <p:cNvPr id="5" name="TextBox 5"/>
          <p:cNvSpPr txBox="1"/>
          <p:nvPr/>
        </p:nvSpPr>
        <p:spPr>
          <a:xfrm>
            <a:off x="947077" y="1654175"/>
            <a:ext cx="16393847" cy="8001321"/>
          </a:xfrm>
          <a:prstGeom prst="rect">
            <a:avLst/>
          </a:prstGeom>
        </p:spPr>
        <p:txBody>
          <a:bodyPr lIns="0" tIns="0" rIns="0" bIns="0" rtlCol="0" anchor="t">
            <a:spAutoFit/>
          </a:bodyPr>
          <a:lstStyle/>
          <a:p>
            <a:pPr marL="647700" lvl="1" indent="-323850" algn="just">
              <a:lnSpc>
                <a:spcPts val="4200"/>
              </a:lnSpc>
              <a:buFont typeface="Arial"/>
              <a:buChar char="•"/>
            </a:pPr>
            <a:r>
              <a:rPr lang="en-US" sz="3000" b="1" dirty="0">
                <a:solidFill>
                  <a:srgbClr val="000000"/>
                </a:solidFill>
                <a:latin typeface="Arial Bold"/>
                <a:ea typeface="Arial Bold"/>
                <a:cs typeface="Arial Bold"/>
                <a:sym typeface="Arial Bold"/>
              </a:rPr>
              <a:t>Objective:</a:t>
            </a:r>
            <a:r>
              <a:rPr lang="en-US" sz="3000" dirty="0">
                <a:solidFill>
                  <a:srgbClr val="000000"/>
                </a:solidFill>
                <a:latin typeface="Arial"/>
                <a:ea typeface="Arial"/>
                <a:cs typeface="Arial"/>
                <a:sym typeface="Arial"/>
              </a:rPr>
              <a:t> Predict customer churn to identify at-risk customers and help the company take preventive actions to improve retention.</a:t>
            </a:r>
          </a:p>
          <a:p>
            <a:pPr marL="647700" lvl="1" indent="-323850" algn="just">
              <a:lnSpc>
                <a:spcPts val="4200"/>
              </a:lnSpc>
              <a:buFont typeface="Arial"/>
              <a:buChar char="•"/>
            </a:pPr>
            <a:r>
              <a:rPr lang="en-US" sz="3000" b="1" dirty="0">
                <a:solidFill>
                  <a:srgbClr val="000000"/>
                </a:solidFill>
                <a:latin typeface="Arial Bold"/>
                <a:ea typeface="Arial Bold"/>
                <a:cs typeface="Arial Bold"/>
                <a:sym typeface="Arial Bold"/>
              </a:rPr>
              <a:t>Dataset Overview:</a:t>
            </a:r>
            <a:r>
              <a:rPr lang="en-US" sz="3000" dirty="0">
                <a:solidFill>
                  <a:srgbClr val="000000"/>
                </a:solidFill>
                <a:latin typeface="Arial"/>
                <a:ea typeface="Arial"/>
                <a:cs typeface="Arial"/>
                <a:sym typeface="Arial"/>
              </a:rPr>
              <a:t> Included customer demographics, contract details, payment methods, tenure, and charges; 25–30% of customers were churners.</a:t>
            </a:r>
          </a:p>
          <a:p>
            <a:pPr marL="647700" lvl="1" indent="-323850" algn="just">
              <a:lnSpc>
                <a:spcPts val="4200"/>
              </a:lnSpc>
              <a:buFont typeface="Arial"/>
              <a:buChar char="•"/>
            </a:pPr>
            <a:r>
              <a:rPr lang="en-US" sz="3000" b="1" dirty="0">
                <a:solidFill>
                  <a:srgbClr val="000000"/>
                </a:solidFill>
                <a:latin typeface="Arial Bold"/>
                <a:ea typeface="Arial Bold"/>
                <a:cs typeface="Arial Bold"/>
                <a:sym typeface="Arial Bold"/>
              </a:rPr>
              <a:t>Churn Drivers:</a:t>
            </a:r>
            <a:r>
              <a:rPr lang="en-US" sz="3000" dirty="0">
                <a:solidFill>
                  <a:srgbClr val="000000"/>
                </a:solidFill>
                <a:latin typeface="Arial"/>
                <a:ea typeface="Arial"/>
                <a:cs typeface="Arial"/>
                <a:sym typeface="Arial"/>
              </a:rPr>
              <a:t> Short tenure, month-to-month contracts, high monthly charges, and electronic check payments increase churn risk.</a:t>
            </a:r>
          </a:p>
          <a:p>
            <a:pPr marL="647700" lvl="1" indent="-323850" algn="just">
              <a:lnSpc>
                <a:spcPts val="4200"/>
              </a:lnSpc>
              <a:buFont typeface="Arial"/>
              <a:buChar char="•"/>
            </a:pPr>
            <a:r>
              <a:rPr lang="en-US" sz="3000" b="1" dirty="0">
                <a:solidFill>
                  <a:srgbClr val="000000"/>
                </a:solidFill>
                <a:latin typeface="Arial Bold"/>
                <a:ea typeface="Arial Bold"/>
                <a:cs typeface="Arial Bold"/>
                <a:sym typeface="Arial Bold"/>
              </a:rPr>
              <a:t>Retention Indicators:</a:t>
            </a:r>
            <a:r>
              <a:rPr lang="en-US" sz="3000" dirty="0">
                <a:solidFill>
                  <a:srgbClr val="000000"/>
                </a:solidFill>
                <a:latin typeface="Arial"/>
                <a:ea typeface="Arial"/>
                <a:cs typeface="Arial"/>
                <a:sym typeface="Arial"/>
              </a:rPr>
              <a:t> Longer tenure, longer contracts, and automatic payments are linked to lower churn.</a:t>
            </a:r>
          </a:p>
          <a:p>
            <a:pPr marL="647700" lvl="1" indent="-323850" algn="just">
              <a:lnSpc>
                <a:spcPts val="4200"/>
              </a:lnSpc>
              <a:buFont typeface="Arial"/>
              <a:buChar char="•"/>
            </a:pPr>
            <a:r>
              <a:rPr lang="en-US" sz="3000" b="1" dirty="0">
                <a:solidFill>
                  <a:srgbClr val="000000"/>
                </a:solidFill>
                <a:latin typeface="Arial Bold"/>
                <a:ea typeface="Arial Bold"/>
                <a:cs typeface="Arial Bold"/>
                <a:sym typeface="Arial Bold"/>
              </a:rPr>
              <a:t>Model Performance:</a:t>
            </a:r>
            <a:r>
              <a:rPr lang="en-US" sz="3000" dirty="0">
                <a:solidFill>
                  <a:srgbClr val="000000"/>
                </a:solidFill>
                <a:latin typeface="Arial"/>
                <a:ea typeface="Arial"/>
                <a:cs typeface="Arial"/>
                <a:sym typeface="Arial"/>
              </a:rPr>
              <a:t> Tested Logistic Regression, SVM, KNN, Decision Tree, Random Forest, and </a:t>
            </a:r>
            <a:r>
              <a:rPr lang="en-US" sz="3000" dirty="0" err="1">
                <a:solidFill>
                  <a:srgbClr val="000000"/>
                </a:solidFill>
                <a:latin typeface="Arial"/>
                <a:ea typeface="Arial"/>
                <a:cs typeface="Arial"/>
                <a:sym typeface="Arial"/>
              </a:rPr>
              <a:t>XGBoost</a:t>
            </a:r>
            <a:r>
              <a:rPr lang="en-US" sz="3000" dirty="0">
                <a:solidFill>
                  <a:srgbClr val="000000"/>
                </a:solidFill>
                <a:latin typeface="Arial"/>
                <a:ea typeface="Arial"/>
                <a:cs typeface="Arial"/>
                <a:sym typeface="Arial"/>
              </a:rPr>
              <a:t>; Logistic Regression Model performed best with 82.2% accuracy.</a:t>
            </a:r>
          </a:p>
          <a:p>
            <a:pPr marL="647700" lvl="1" indent="-323850" algn="just">
              <a:lnSpc>
                <a:spcPts val="4200"/>
              </a:lnSpc>
              <a:buFont typeface="Arial"/>
              <a:buChar char="•"/>
            </a:pPr>
            <a:r>
              <a:rPr lang="en-US" sz="3000" b="1" dirty="0">
                <a:solidFill>
                  <a:srgbClr val="000000"/>
                </a:solidFill>
                <a:latin typeface="Arial Bold"/>
                <a:ea typeface="Arial Bold"/>
                <a:cs typeface="Arial Bold"/>
                <a:sym typeface="Arial Bold"/>
              </a:rPr>
              <a:t>Key Findings:</a:t>
            </a:r>
            <a:r>
              <a:rPr lang="en-US" sz="3000" dirty="0">
                <a:solidFill>
                  <a:srgbClr val="000000"/>
                </a:solidFill>
                <a:latin typeface="Arial"/>
                <a:ea typeface="Arial"/>
                <a:cs typeface="Arial"/>
                <a:sym typeface="Arial"/>
              </a:rPr>
              <a:t> Churn is mostly influenced by contract type, monthly charges, tenure, and payment method; loyal long-term customers are less likely to churn.</a:t>
            </a:r>
          </a:p>
          <a:p>
            <a:pPr marL="647700" lvl="1" indent="-323850" algn="just">
              <a:lnSpc>
                <a:spcPts val="4200"/>
              </a:lnSpc>
              <a:buFont typeface="Arial"/>
              <a:buChar char="•"/>
            </a:pPr>
            <a:r>
              <a:rPr lang="en-US" sz="3000" b="1" dirty="0">
                <a:solidFill>
                  <a:srgbClr val="000000"/>
                </a:solidFill>
                <a:latin typeface="Arial Bold"/>
                <a:ea typeface="Arial Bold"/>
                <a:cs typeface="Arial Bold"/>
                <a:sym typeface="Arial Bold"/>
              </a:rPr>
              <a:t>Conclusion &amp; Recommendations:</a:t>
            </a:r>
            <a:r>
              <a:rPr lang="en-US" sz="3000" dirty="0">
                <a:solidFill>
                  <a:srgbClr val="000000"/>
                </a:solidFill>
                <a:latin typeface="Arial"/>
                <a:ea typeface="Arial"/>
                <a:cs typeface="Arial"/>
                <a:sym typeface="Arial"/>
              </a:rPr>
              <a:t> Logistic Regression is the most effective predictor; insights suggest encouraging long-term contracts and monitoring high-risk customer segments for retention strategies.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3AC306-2CB9-E23A-B779-5CE9F3CCB283}"/>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14176" y="379710"/>
            <a:ext cx="9276832" cy="9276832"/>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87272" y="379710"/>
            <a:ext cx="9276832" cy="9276832"/>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22" name="Oval 21">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05584" y="204787"/>
            <a:ext cx="9276833" cy="9276833"/>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4">
            <a:extLst>
              <a:ext uri="{FF2B5EF4-FFF2-40B4-BE49-F238E27FC236}">
                <a16:creationId xmlns:a16="http://schemas.microsoft.com/office/drawing/2014/main" id="{BC1AC0A9-3206-DF8E-AD78-0D2144075365}"/>
              </a:ext>
            </a:extLst>
          </p:cNvPr>
          <p:cNvSpPr txBox="1"/>
          <p:nvPr/>
        </p:nvSpPr>
        <p:spPr>
          <a:xfrm>
            <a:off x="5372100" y="1448370"/>
            <a:ext cx="7806733" cy="4740889"/>
          </a:xfrm>
          <a:prstGeom prst="rect">
            <a:avLst/>
          </a:prstGeom>
        </p:spPr>
        <p:txBody>
          <a:bodyPr vert="horz" lIns="91440" tIns="45720" rIns="91440" bIns="45720" rtlCol="0" anchor="b">
            <a:normAutofit/>
          </a:bodyPr>
          <a:lstStyle/>
          <a:p>
            <a:pPr algn="ctr" defTabSz="914400">
              <a:lnSpc>
                <a:spcPct val="90000"/>
              </a:lnSpc>
              <a:spcBef>
                <a:spcPct val="0"/>
              </a:spcBef>
              <a:spcAft>
                <a:spcPts val="600"/>
              </a:spcAft>
            </a:pPr>
            <a:r>
              <a:rPr lang="en-US" sz="8100" kern="1200">
                <a:solidFill>
                  <a:schemeClr val="bg1"/>
                </a:solidFill>
                <a:latin typeface="+mj-lt"/>
                <a:ea typeface="+mj-ea"/>
                <a:cs typeface="+mj-cs"/>
                <a:sym typeface="Maragsa"/>
              </a:rPr>
              <a:t>THANK YOU</a:t>
            </a:r>
          </a:p>
        </p:txBody>
      </p:sp>
      <p:sp>
        <p:nvSpPr>
          <p:cNvPr id="24"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84412" y="1463965"/>
            <a:ext cx="620346" cy="62034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6"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84412" y="1463965"/>
            <a:ext cx="620346" cy="62034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28"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422" y="2633254"/>
            <a:ext cx="2398245" cy="796941"/>
            <a:chOff x="2504802" y="1755501"/>
            <a:chExt cx="1598829" cy="531293"/>
          </a:xfrm>
          <a:solidFill>
            <a:schemeClr val="bg1"/>
          </a:solidFill>
        </p:grpSpPr>
        <p:sp>
          <p:nvSpPr>
            <p:cNvPr id="29" name="Freeform: Shape 28">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32" name="Oval 31">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79730" y="6354160"/>
            <a:ext cx="766482" cy="766482"/>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4" name="Oval 33">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79730" y="6354160"/>
            <a:ext cx="766482" cy="766482"/>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6"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96100" y="6263785"/>
            <a:ext cx="2792209" cy="2792519"/>
            <a:chOff x="5734053" y="3067000"/>
            <a:chExt cx="724484" cy="724549"/>
          </a:xfrm>
          <a:solidFill>
            <a:schemeClr val="bg1"/>
          </a:solidFill>
        </p:grpSpPr>
        <p:sp>
          <p:nvSpPr>
            <p:cNvPr id="37" name="Freeform: Shape 36">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8" name="Freeform: Shape 197">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9" name="Freeform: Shape 198">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0" name="Freeform: Shape 199">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01" name="Freeform: Shape 200">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02" name="Freeform: Shape 201">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203" name="Freeform: Shape 202">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04" name="Freeform: Shape 203">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205" name="Freeform: Shape 204">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6606145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72</TotalTime>
  <Words>1175</Words>
  <Application>Microsoft Office PowerPoint</Application>
  <PresentationFormat>Custom</PresentationFormat>
  <Paragraphs>122</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Maragsa</vt:lpstr>
      <vt:lpstr>Arial Bold</vt:lpstr>
      <vt:lpstr>Aptos Display</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Cream and Beige Simple Clean Project Overview Presentation</dc:title>
  <cp:lastModifiedBy>abdul kadhar</cp:lastModifiedBy>
  <cp:revision>2</cp:revision>
  <dcterms:created xsi:type="dcterms:W3CDTF">2006-08-16T00:00:00Z</dcterms:created>
  <dcterms:modified xsi:type="dcterms:W3CDTF">2025-11-14T05:34:35Z</dcterms:modified>
  <dc:identifier>DAG4eTo9tcY</dc:identifier>
</cp:coreProperties>
</file>